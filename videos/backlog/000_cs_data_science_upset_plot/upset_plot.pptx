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.xml" ContentType="application/vnd.openxmlformats-officedocument.presentationml.notesSlide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0" r:id="rId3"/>
    <p:sldId id="265" r:id="rId4"/>
    <p:sldId id="266" r:id="rId5"/>
    <p:sldId id="259" r:id="rId6"/>
    <p:sldId id="268" r:id="rId7"/>
    <p:sldId id="275" r:id="rId8"/>
    <p:sldId id="269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pt-BR" sz="1600" b="1"/>
              <a:t>Incidência de cada fonte de renda (n = 100)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Observações</c:v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D  Imóveis</c:v>
              </c:pt>
              <c:pt idx="1">
                <c:v>C  Aposent. privada</c:v>
              </c:pt>
              <c:pt idx="2">
                <c:v>B  Pensão do governo</c:v>
              </c:pt>
              <c:pt idx="3">
                <c:v>A  Economia pessoal</c:v>
              </c:pt>
            </c:strLit>
          </c:cat>
          <c:val>
            <c:numLit>
              <c:formatCode>General</c:formatCode>
              <c:ptCount val="4"/>
              <c:pt idx="0">
                <c:v>42</c:v>
              </c:pt>
              <c:pt idx="1">
                <c:v>48</c:v>
              </c:pt>
              <c:pt idx="2">
                <c:v>64</c:v>
              </c:pt>
              <c:pt idx="3">
                <c:v>82</c:v>
              </c:pt>
            </c:numLit>
          </c:val>
          <c:extLst>
            <c:ext xmlns:c16="http://schemas.microsoft.com/office/drawing/2014/chart" uri="{C3380CC4-5D6E-409C-BE32-E72D297353CC}">
              <c16:uniqueId val="{00000000-F816-4D76-8795-869B22BD74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pt-BR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pt-BR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pt-BR" sz="1600" b="1"/>
              <a:t>Quantas fontes cada observação combina (contagem)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Observações</c:v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Nenhuma</c:v>
              </c:pt>
              <c:pt idx="1">
                <c:v>1 fonte</c:v>
              </c:pt>
              <c:pt idx="2">
                <c:v>2 fontes</c:v>
              </c:pt>
              <c:pt idx="3">
                <c:v>3 fontes</c:v>
              </c:pt>
              <c:pt idx="4">
                <c:v>4 fontes</c:v>
              </c:pt>
            </c:strLit>
          </c:cat>
          <c:val>
            <c:numLit>
              <c:formatCode>General</c:formatCode>
              <c:ptCount val="5"/>
              <c:pt idx="0">
                <c:v>3</c:v>
              </c:pt>
              <c:pt idx="1">
                <c:v>19</c:v>
              </c:pt>
              <c:pt idx="2">
                <c:v>29</c:v>
              </c:pt>
              <c:pt idx="3">
                <c:v>33</c:v>
              </c:pt>
              <c:pt idx="4">
                <c:v>15</c:v>
              </c:pt>
            </c:numLit>
          </c:val>
          <c:extLst>
            <c:ext xmlns:c16="http://schemas.microsoft.com/office/drawing/2014/chart" uri="{C3380CC4-5D6E-409C-BE32-E72D297353CC}">
              <c16:uniqueId val="{00000000-B125-4574-A184-171DBF0B49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pt-BR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pt-BR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pt-BR" sz="1600" b="1"/>
              <a:t>Observações em cada combinação exclusiva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05"/>
          <c:y val="0.18"/>
          <c:w val="0.95"/>
          <c:h val="0.82"/>
        </c:manualLayout>
      </c:layout>
      <c:barChart>
        <c:barDir val="col"/>
        <c:grouping val="clustered"/>
        <c:varyColors val="1"/>
        <c:ser>
          <c:idx val="0"/>
          <c:order val="0"/>
          <c:tx>
            <c:v>Observações</c:v>
          </c:tx>
          <c:spPr>
            <a:solidFill>
              <a:srgbClr val="156082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/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12"/>
              <c:pt idx="0">
                <c:v>ABC</c:v>
              </c:pt>
              <c:pt idx="1">
                <c:v>ABCD</c:v>
              </c:pt>
              <c:pt idx="2">
                <c:v>AB</c:v>
              </c:pt>
              <c:pt idx="3">
                <c:v>ACD</c:v>
              </c:pt>
              <c:pt idx="4">
                <c:v>A</c:v>
              </c:pt>
              <c:pt idx="5">
                <c:v>ABD</c:v>
              </c:pt>
              <c:pt idx="6">
                <c:v>AC</c:v>
              </c:pt>
              <c:pt idx="7">
                <c:v>B</c:v>
              </c:pt>
              <c:pt idx="8">
                <c:v>BD</c:v>
              </c:pt>
              <c:pt idx="9">
                <c:v>AD</c:v>
              </c:pt>
              <c:pt idx="10">
                <c:v>nenhuma</c:v>
              </c:pt>
              <c:pt idx="11">
                <c:v>D</c:v>
              </c:pt>
            </c:strLit>
          </c:cat>
          <c:val>
            <c:numLit>
              <c:formatCode>General</c:formatCode>
              <c:ptCount val="12"/>
              <c:pt idx="0">
                <c:v>16</c:v>
              </c:pt>
              <c:pt idx="1">
                <c:v>15</c:v>
              </c:pt>
              <c:pt idx="2">
                <c:v>13</c:v>
              </c:pt>
              <c:pt idx="3">
                <c:v>9</c:v>
              </c:pt>
              <c:pt idx="4">
                <c:v>9</c:v>
              </c:pt>
              <c:pt idx="5">
                <c:v>8</c:v>
              </c:pt>
              <c:pt idx="6">
                <c:v>8</c:v>
              </c:pt>
              <c:pt idx="7">
                <c:v>8</c:v>
              </c:pt>
              <c:pt idx="8">
                <c:v>4</c:v>
              </c:pt>
              <c:pt idx="9">
                <c:v>4</c:v>
              </c:pt>
              <c:pt idx="10">
                <c:v>3</c:v>
              </c:pt>
              <c:pt idx="11">
                <c:v>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370-40B0-BA37-FE153F0088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811"/>
        <c:axId val="812"/>
      </c:barChart>
      <c:catAx>
        <c:axId val="811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one"/>
        <c:crossAx val="812"/>
        <c:crosses val="autoZero"/>
        <c:auto val="1"/>
        <c:lblAlgn val="ctr"/>
        <c:lblOffset val="100"/>
        <c:noMultiLvlLbl val="1"/>
      </c:catAx>
      <c:valAx>
        <c:axId val="812"/>
        <c:scaling>
          <c:orientation val="minMax"/>
          <c:max val="18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pt-BR"/>
          </a:p>
        </c:txPr>
        <c:crossAx val="811"/>
        <c:crosses val="autoZero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E0374-5C06-4D62-A16C-00B8779B625D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EE156-0D4D-4F95-BD0C-2D641F0FBC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6523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BEE156-0D4D-4F95-BD0C-2D641F0FBCC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7252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12290C-F29B-88B5-69DF-3CB59FD59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FDD526-63CF-36D9-65CA-13F057A60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4B3120-CF73-DD52-0C1C-058766CC2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B64D1-3FB1-4468-A96F-29502BB9FD0B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E6F80D-2083-6648-1904-36FE58163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0D5B1D-6CED-4A70-9474-24DED31EC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8D7E-8CC1-4DBE-8942-21C0327A54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8286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2D1084-4977-5DB6-D05C-2D3753EC6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C3A62D-5BB4-63D4-E2FC-C978A954C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85EC05-E458-CC9B-56A6-47BB7C516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B64D1-3FB1-4468-A96F-29502BB9FD0B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548FE7-AA45-6679-45DA-C884A63CC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661559-549E-81FA-13BD-8264B1001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8D7E-8CC1-4DBE-8942-21C0327A54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0914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525D35-8373-D5EF-7E3D-BC90E4650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B378605-2DC4-6EE2-D5BB-BC0C57C6C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C04A3C-37E0-5492-CB42-4FC446882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B64D1-3FB1-4468-A96F-29502BB9FD0B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03E973-C6CF-53ED-9473-A599AF5C9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E3B827-A137-7666-40D7-BC503923A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8D7E-8CC1-4DBE-8942-21C0327A54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0654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62845F-F84D-3ACD-3A53-D0FC23731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8AFEF8-7566-1415-6E3E-862222169F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6C1DFF0-1AE5-CECA-81DA-7B2C95929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F0EF52-DFF0-428D-B726-D3D33757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B64D1-3FB1-4468-A96F-29502BB9FD0B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DB0769A-905C-028F-8F7A-07F330473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9F2D6C-9136-92F1-2620-990A66DE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8D7E-8CC1-4DBE-8942-21C0327A54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3515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FE63DA-75D8-E20C-A2E3-BC8F71422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041CB3-7627-1518-7A21-11923BEED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D381739-C8FD-53C2-D9A3-1A146FBB8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F036EA2-4B11-0968-8CEA-8B0AAAC132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3770D00-9C8B-33B6-1BED-6FFCE260FE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0A8549C-731C-4B5C-DA1B-E4C3F258D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B64D1-3FB1-4468-A96F-29502BB9FD0B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B41386-277F-3131-EBE4-5FF835E76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A208072-49C8-E5B5-70F3-0AAD984DD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8D7E-8CC1-4DBE-8942-21C0327A54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049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9ED8E-193A-4BAD-3846-D3A0A43EA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7915D2-0390-53DD-002A-5C5FF03B4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B64D1-3FB1-4468-A96F-29502BB9FD0B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836ADD4-4AFE-B2F6-0D6C-5205FC488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DF8B06D-D332-3EB5-5C6C-4DC563F43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8D7E-8CC1-4DBE-8942-21C0327A54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606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199E9EA-1AB8-1DCC-A167-560EC1CF9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B64D1-3FB1-4468-A96F-29502BB9FD0B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8E2F103-B410-55A9-3437-F6A2484FD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CCC7E78-3941-CCCA-7968-DD31D734E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8D7E-8CC1-4DBE-8942-21C0327A54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5640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0C18C1-6056-A135-87B1-7195F4322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C2B70E-F525-D1F9-98ED-948BC1803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94B01EA-9F6B-0175-B496-FBD7AF452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B99B90-6FFE-0504-39BF-9EFA8058B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B64D1-3FB1-4468-A96F-29502BB9FD0B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5C522CB-9973-F190-D61E-C6D42F4FB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3B7BFF-221D-E5EB-88D4-18D1D386D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8D7E-8CC1-4DBE-8942-21C0327A54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0707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F35FC2-A07A-6C64-8EA2-CDECEF945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2F587AF-C288-B5D0-E2B1-E2CCE4EAAE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A17C623-E51C-C589-A8B4-C6AC369E5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1CA887-B0E7-06FE-CCA5-4C5F936A4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B64D1-3FB1-4468-A96F-29502BB9FD0B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69EF29B-2E03-10B3-F566-9F23D767B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695DB7-1E06-AA1C-0895-841DD2ED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8D7E-8CC1-4DBE-8942-21C0327A54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8880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066A46-5096-6BBB-1E01-560203E1C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9332EA0-499B-5402-49FC-5C823EA1C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D5C2FB-7EF7-52FA-5078-96DB5D435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B64D1-3FB1-4468-A96F-29502BB9FD0B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9DDC08-D226-7DDC-32F5-51B9017E2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DD82D2-8001-136C-51D6-35C10AC51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8D7E-8CC1-4DBE-8942-21C0327A54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9477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DB56734-942D-7AC6-93A4-572E88EEE1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3771CE-C089-9455-C1A9-DE61DB6B4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B1CFB5-55D7-0686-87FC-8E66917BF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B64D1-3FB1-4468-A96F-29502BB9FD0B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5157A8-EED2-7CB1-B03A-63B8EDBEF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333ADD-7CA7-2CB8-75DF-DF8F14688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48D7E-8CC1-4DBE-8942-21C0327A54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9831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4268B30-3DBB-567C-9539-8D3F688D4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7C809DD-5D37-CA2F-3BD4-749556FB4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842713-4603-163A-1D23-8BE47C7DE1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B64D1-3FB1-4468-A96F-29502BB9FD0B}" type="datetimeFigureOut">
              <a:rPr lang="pt-BR" smtClean="0"/>
              <a:t>08/08/2026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331910-DD27-535E-0F29-06E30658E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8890CB-067A-1CCA-FE35-EEB22D0F6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B48D7E-8CC1-4DBE-8942-21C0327A543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4140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91CFD356-B032-B659-0FC9-C3FBD3762D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4000" b="1"/>
              <a:t>Dados de sobreposição: como visualizar e reportar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7A6BC435-2FEA-4C48-FB8D-41AD66700C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787400"/>
          </a:xfrm>
        </p:spPr>
        <p:txBody>
          <a:bodyPr>
            <a:normAutofit/>
          </a:bodyPr>
          <a:lstStyle/>
          <a:p>
            <a:r>
              <a:rPr lang="pt-BR" sz="2000"/>
              <a:t>Tabela de incidência — 4 categorias, 100 observações, contagens absolutas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7535B57-A643-4D80-8AD5-B192962F004E}"/>
              </a:ext>
            </a:extLst>
          </p:cNvPr>
          <p:cNvSpPr/>
          <p:nvPr/>
        </p:nvSpPr>
        <p:spPr>
          <a:xfrm>
            <a:off x="1524000" y="4597400"/>
            <a:ext cx="1524000" cy="762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A87E9A3-3E00-4E0F-9735-C3B207409E87}"/>
              </a:ext>
            </a:extLst>
          </p:cNvPr>
          <p:cNvSpPr txBox="1"/>
          <p:nvPr/>
        </p:nvSpPr>
        <p:spPr>
          <a:xfrm>
            <a:off x="1524000" y="4902200"/>
            <a:ext cx="9144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595959"/>
                </a:solidFill>
              </a:rPr>
              <a:t>Base: planilha visualicacao_correta.xlsx  |  Apresentação didática</a:t>
            </a:r>
          </a:p>
        </p:txBody>
      </p:sp>
    </p:spTree>
    <p:extLst>
      <p:ext uri="{BB962C8B-B14F-4D97-AF65-F5344CB8AC3E}">
        <p14:creationId xmlns:p14="http://schemas.microsoft.com/office/powerpoint/2010/main" val="1288408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8D2DEE-520C-9243-2E60-19C873C21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Os dados em 1 minuto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06B09BF-9B2C-4CA5-AE55-EBE599720148}"/>
              </a:ext>
            </a:extLst>
          </p:cNvPr>
          <p:cNvSpPr/>
          <p:nvPr/>
        </p:nvSpPr>
        <p:spPr>
          <a:xfrm>
            <a:off x="457200" y="1892300"/>
            <a:ext cx="2647950" cy="3810000"/>
          </a:xfrm>
          <a:prstGeom prst="roundRect">
            <a:avLst/>
          </a:prstGeom>
          <a:solidFill>
            <a:srgbClr val="F2F5F7"/>
          </a:solidFill>
          <a:ln w="19050" cap="flat" cmpd="sng" algn="ctr">
            <a:solidFill>
              <a:srgbClr val="15608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B536AF5F-1D29-4318-BBA5-E209F298A36A}"/>
              </a:ext>
            </a:extLst>
          </p:cNvPr>
          <p:cNvSpPr/>
          <p:nvPr/>
        </p:nvSpPr>
        <p:spPr>
          <a:xfrm>
            <a:off x="685800" y="2120900"/>
            <a:ext cx="609600" cy="6096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24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3F0CD62-9040-42FA-9B49-2B90B2533F42}"/>
              </a:ext>
            </a:extLst>
          </p:cNvPr>
          <p:cNvSpPr txBox="1"/>
          <p:nvPr/>
        </p:nvSpPr>
        <p:spPr>
          <a:xfrm>
            <a:off x="660400" y="2908300"/>
            <a:ext cx="224155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4000" b="1">
                <a:solidFill>
                  <a:srgbClr val="156082"/>
                </a:solidFill>
              </a:rPr>
              <a:t>82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68C0F1D-2235-4A9C-B476-73723F118288}"/>
              </a:ext>
            </a:extLst>
          </p:cNvPr>
          <p:cNvSpPr txBox="1"/>
          <p:nvPr/>
        </p:nvSpPr>
        <p:spPr>
          <a:xfrm>
            <a:off x="660400" y="3695700"/>
            <a:ext cx="224155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dirty="0">
                <a:solidFill>
                  <a:srgbClr val="404040"/>
                </a:solidFill>
              </a:rPr>
              <a:t>marcações (incidência)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4983D4D-B7BB-4D80-8CEB-59D0459B0431}"/>
              </a:ext>
            </a:extLst>
          </p:cNvPr>
          <p:cNvSpPr txBox="1"/>
          <p:nvPr/>
        </p:nvSpPr>
        <p:spPr>
          <a:xfrm>
            <a:off x="660400" y="4254500"/>
            <a:ext cx="224155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E2841"/>
                </a:solidFill>
              </a:rPr>
              <a:t>Economia pessoal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02022CF-E201-4611-B4BF-E1EC5E8E1235}"/>
              </a:ext>
            </a:extLst>
          </p:cNvPr>
          <p:cNvSpPr/>
          <p:nvPr/>
        </p:nvSpPr>
        <p:spPr>
          <a:xfrm>
            <a:off x="3333750" y="1892300"/>
            <a:ext cx="2647950" cy="3810000"/>
          </a:xfrm>
          <a:prstGeom prst="roundRect">
            <a:avLst/>
          </a:prstGeom>
          <a:solidFill>
            <a:srgbClr val="F2F5F7"/>
          </a:solidFill>
          <a:ln w="19050" cap="flat" cmpd="sng" algn="ctr">
            <a:solidFill>
              <a:srgbClr val="B0530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1495361-2FF9-4CEB-A430-0D5A79FE062A}"/>
              </a:ext>
            </a:extLst>
          </p:cNvPr>
          <p:cNvSpPr/>
          <p:nvPr/>
        </p:nvSpPr>
        <p:spPr>
          <a:xfrm>
            <a:off x="3562350" y="2120900"/>
            <a:ext cx="609600" cy="609600"/>
          </a:xfrm>
          <a:prstGeom prst="ellipse">
            <a:avLst/>
          </a:prstGeom>
          <a:solidFill>
            <a:srgbClr val="B0530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24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433EFB5-DA5E-47B8-AACB-96A8413F96B3}"/>
              </a:ext>
            </a:extLst>
          </p:cNvPr>
          <p:cNvSpPr txBox="1"/>
          <p:nvPr/>
        </p:nvSpPr>
        <p:spPr>
          <a:xfrm>
            <a:off x="3536950" y="2908300"/>
            <a:ext cx="224155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4000" b="1">
                <a:solidFill>
                  <a:srgbClr val="B0530F"/>
                </a:solidFill>
              </a:rPr>
              <a:t>64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A74E415-A4E2-4E12-9497-5EB8565E1A60}"/>
              </a:ext>
            </a:extLst>
          </p:cNvPr>
          <p:cNvSpPr txBox="1"/>
          <p:nvPr/>
        </p:nvSpPr>
        <p:spPr>
          <a:xfrm>
            <a:off x="3536950" y="3695700"/>
            <a:ext cx="224155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>
                <a:solidFill>
                  <a:srgbClr val="404040"/>
                </a:solidFill>
              </a:rPr>
              <a:t>marcações (incidência)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0E7D7E8-9318-4E56-8FD3-EA6C693786EF}"/>
              </a:ext>
            </a:extLst>
          </p:cNvPr>
          <p:cNvSpPr txBox="1"/>
          <p:nvPr/>
        </p:nvSpPr>
        <p:spPr>
          <a:xfrm>
            <a:off x="3536950" y="4254500"/>
            <a:ext cx="224155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E2841"/>
                </a:solidFill>
              </a:rPr>
              <a:t>Pensão do governo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4D1059A-51B3-4635-B606-CC6745CF21B2}"/>
              </a:ext>
            </a:extLst>
          </p:cNvPr>
          <p:cNvSpPr/>
          <p:nvPr/>
        </p:nvSpPr>
        <p:spPr>
          <a:xfrm>
            <a:off x="6210300" y="1892300"/>
            <a:ext cx="2647950" cy="3810000"/>
          </a:xfrm>
          <a:prstGeom prst="roundRect">
            <a:avLst/>
          </a:prstGeom>
          <a:solidFill>
            <a:srgbClr val="F2F5F7"/>
          </a:solidFill>
          <a:ln w="19050" cap="flat" cmpd="sng" algn="ctr">
            <a:solidFill>
              <a:srgbClr val="0A6E9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C45064BA-98AE-40C1-AC23-6E88C300CC27}"/>
              </a:ext>
            </a:extLst>
          </p:cNvPr>
          <p:cNvSpPr/>
          <p:nvPr/>
        </p:nvSpPr>
        <p:spPr>
          <a:xfrm>
            <a:off x="6438900" y="2120900"/>
            <a:ext cx="609600" cy="609600"/>
          </a:xfrm>
          <a:prstGeom prst="ellipse">
            <a:avLst/>
          </a:prstGeom>
          <a:solidFill>
            <a:srgbClr val="0A6E9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24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9F04024-A418-46CD-AED6-E2F760E06946}"/>
              </a:ext>
            </a:extLst>
          </p:cNvPr>
          <p:cNvSpPr txBox="1"/>
          <p:nvPr/>
        </p:nvSpPr>
        <p:spPr>
          <a:xfrm>
            <a:off x="6413500" y="2908300"/>
            <a:ext cx="224155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4000" b="1">
                <a:solidFill>
                  <a:srgbClr val="0A6E96"/>
                </a:solidFill>
              </a:rPr>
              <a:t>48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F10DFC0-F1C6-4772-A5C1-1399D6AE3272}"/>
              </a:ext>
            </a:extLst>
          </p:cNvPr>
          <p:cNvSpPr txBox="1"/>
          <p:nvPr/>
        </p:nvSpPr>
        <p:spPr>
          <a:xfrm>
            <a:off x="6413500" y="3695700"/>
            <a:ext cx="224155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>
                <a:solidFill>
                  <a:srgbClr val="404040"/>
                </a:solidFill>
              </a:rPr>
              <a:t>marcações (incidência)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85D6AB8-F291-4393-A54F-75302A3CEA31}"/>
              </a:ext>
            </a:extLst>
          </p:cNvPr>
          <p:cNvSpPr txBox="1"/>
          <p:nvPr/>
        </p:nvSpPr>
        <p:spPr>
          <a:xfrm>
            <a:off x="6413500" y="4254500"/>
            <a:ext cx="224155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E2841"/>
                </a:solidFill>
              </a:rPr>
              <a:t>Aposentadoria privada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528DEA20-DBC9-453E-BE34-CD960A53E025}"/>
              </a:ext>
            </a:extLst>
          </p:cNvPr>
          <p:cNvSpPr/>
          <p:nvPr/>
        </p:nvSpPr>
        <p:spPr>
          <a:xfrm>
            <a:off x="9086850" y="1892300"/>
            <a:ext cx="2647950" cy="3810000"/>
          </a:xfrm>
          <a:prstGeom prst="roundRect">
            <a:avLst/>
          </a:prstGeom>
          <a:solidFill>
            <a:srgbClr val="F2F5F7"/>
          </a:solidFill>
          <a:ln w="19050" cap="flat" cmpd="sng" algn="ctr">
            <a:solidFill>
              <a:srgbClr val="196B2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136D5BA3-08B2-4859-9198-FE9D82745C69}"/>
              </a:ext>
            </a:extLst>
          </p:cNvPr>
          <p:cNvSpPr/>
          <p:nvPr/>
        </p:nvSpPr>
        <p:spPr>
          <a:xfrm>
            <a:off x="9315450" y="2120900"/>
            <a:ext cx="609600" cy="6096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24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DD42383-06AA-4F1E-9501-52238A12FE06}"/>
              </a:ext>
            </a:extLst>
          </p:cNvPr>
          <p:cNvSpPr txBox="1"/>
          <p:nvPr/>
        </p:nvSpPr>
        <p:spPr>
          <a:xfrm>
            <a:off x="9290050" y="2908300"/>
            <a:ext cx="224155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4000" b="1">
                <a:solidFill>
                  <a:srgbClr val="196B24"/>
                </a:solidFill>
              </a:rPr>
              <a:t>42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B0035DE-CBE5-4114-ABE9-3B19B1C237E7}"/>
              </a:ext>
            </a:extLst>
          </p:cNvPr>
          <p:cNvSpPr txBox="1"/>
          <p:nvPr/>
        </p:nvSpPr>
        <p:spPr>
          <a:xfrm>
            <a:off x="9290050" y="3695700"/>
            <a:ext cx="224155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>
                <a:solidFill>
                  <a:srgbClr val="404040"/>
                </a:solidFill>
              </a:rPr>
              <a:t>marcações (incidência)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8B55D62-6689-4417-9192-277B851D97EB}"/>
              </a:ext>
            </a:extLst>
          </p:cNvPr>
          <p:cNvSpPr txBox="1"/>
          <p:nvPr/>
        </p:nvSpPr>
        <p:spPr>
          <a:xfrm>
            <a:off x="9290050" y="4254500"/>
            <a:ext cx="224155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0E2841"/>
                </a:solidFill>
              </a:rPr>
              <a:t>Venda/aluguel de imóveis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CA6F348-5664-4F6C-8921-948257CF7263}"/>
              </a:ext>
            </a:extLst>
          </p:cNvPr>
          <p:cNvSpPr txBox="1"/>
          <p:nvPr/>
        </p:nvSpPr>
        <p:spPr>
          <a:xfrm>
            <a:off x="457200" y="5981700"/>
            <a:ext cx="11277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i="1">
                <a:solidFill>
                  <a:srgbClr val="404040"/>
                </a:solidFill>
              </a:rPr>
              <a:t>Valores absolutos: número de observações que marcaram cada fonte. Cada pessoa pode marcar mais de uma, então a soma (236) passa de 100.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7C1837A0-E1BB-4386-AA50-2856F55B8600}"/>
              </a:ext>
            </a:extLst>
          </p:cNvPr>
          <p:cNvSpPr/>
          <p:nvPr/>
        </p:nvSpPr>
        <p:spPr>
          <a:xfrm>
            <a:off x="660400" y="5067300"/>
            <a:ext cx="2241550" cy="152400"/>
          </a:xfrm>
          <a:prstGeom prst="rect">
            <a:avLst/>
          </a:prstGeom>
          <a:solidFill>
            <a:srgbClr val="E3E8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976B33AC-93BF-4DB8-9E87-D378AD9B109F}"/>
              </a:ext>
            </a:extLst>
          </p:cNvPr>
          <p:cNvSpPr/>
          <p:nvPr/>
        </p:nvSpPr>
        <p:spPr>
          <a:xfrm>
            <a:off x="660400" y="5067300"/>
            <a:ext cx="1854200" cy="1524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8989564-82B9-458C-B2C3-83449002AE9D}"/>
              </a:ext>
            </a:extLst>
          </p:cNvPr>
          <p:cNvSpPr txBox="1"/>
          <p:nvPr/>
        </p:nvSpPr>
        <p:spPr>
          <a:xfrm>
            <a:off x="660400" y="5270500"/>
            <a:ext cx="224155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404040"/>
                </a:solidFill>
              </a:rPr>
              <a:t>Fonte mais citada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5F222DDA-A32F-46F5-A69E-DC6F6F1C3199}"/>
              </a:ext>
            </a:extLst>
          </p:cNvPr>
          <p:cNvSpPr/>
          <p:nvPr/>
        </p:nvSpPr>
        <p:spPr>
          <a:xfrm>
            <a:off x="3536950" y="5067300"/>
            <a:ext cx="2241550" cy="152400"/>
          </a:xfrm>
          <a:prstGeom prst="rect">
            <a:avLst/>
          </a:prstGeom>
          <a:solidFill>
            <a:srgbClr val="E3E8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0C4D1430-5E28-4E20-AA15-5E219248E52E}"/>
              </a:ext>
            </a:extLst>
          </p:cNvPr>
          <p:cNvSpPr/>
          <p:nvPr/>
        </p:nvSpPr>
        <p:spPr>
          <a:xfrm>
            <a:off x="3536950" y="5067300"/>
            <a:ext cx="1447800" cy="152400"/>
          </a:xfrm>
          <a:prstGeom prst="rect">
            <a:avLst/>
          </a:prstGeom>
          <a:solidFill>
            <a:srgbClr val="B0530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75812923-9D4E-4D10-A5E3-1B80B05AE706}"/>
              </a:ext>
            </a:extLst>
          </p:cNvPr>
          <p:cNvSpPr txBox="1"/>
          <p:nvPr/>
        </p:nvSpPr>
        <p:spPr>
          <a:xfrm>
            <a:off x="3536950" y="5270500"/>
            <a:ext cx="224155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404040"/>
                </a:solidFill>
              </a:rPr>
              <a:t>2ª mais citada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F459D707-49B0-4CB0-AD6C-392579E29B27}"/>
              </a:ext>
            </a:extLst>
          </p:cNvPr>
          <p:cNvSpPr/>
          <p:nvPr/>
        </p:nvSpPr>
        <p:spPr>
          <a:xfrm>
            <a:off x="6413500" y="5067300"/>
            <a:ext cx="2241550" cy="152400"/>
          </a:xfrm>
          <a:prstGeom prst="rect">
            <a:avLst/>
          </a:prstGeom>
          <a:solidFill>
            <a:srgbClr val="E3E8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397D99A5-2A2F-4D50-BF2F-69CDB156F247}"/>
              </a:ext>
            </a:extLst>
          </p:cNvPr>
          <p:cNvSpPr/>
          <p:nvPr/>
        </p:nvSpPr>
        <p:spPr>
          <a:xfrm>
            <a:off x="6413500" y="5067300"/>
            <a:ext cx="1092200" cy="152400"/>
          </a:xfrm>
          <a:prstGeom prst="rect">
            <a:avLst/>
          </a:prstGeom>
          <a:solidFill>
            <a:srgbClr val="0A6E9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4A336A7A-8D6C-42F4-BF27-AE361F123415}"/>
              </a:ext>
            </a:extLst>
          </p:cNvPr>
          <p:cNvSpPr txBox="1"/>
          <p:nvPr/>
        </p:nvSpPr>
        <p:spPr>
          <a:xfrm>
            <a:off x="6413500" y="5270500"/>
            <a:ext cx="224155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404040"/>
                </a:solidFill>
              </a:rPr>
              <a:t>Quase metade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B15D4E89-DCF5-49DC-AE3F-955E210A0BEF}"/>
              </a:ext>
            </a:extLst>
          </p:cNvPr>
          <p:cNvSpPr/>
          <p:nvPr/>
        </p:nvSpPr>
        <p:spPr>
          <a:xfrm>
            <a:off x="9290050" y="5067300"/>
            <a:ext cx="2241550" cy="152400"/>
          </a:xfrm>
          <a:prstGeom prst="rect">
            <a:avLst/>
          </a:prstGeom>
          <a:solidFill>
            <a:srgbClr val="E3E8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DAE26DBD-2DE2-4069-B9C7-DA6694D4E975}"/>
              </a:ext>
            </a:extLst>
          </p:cNvPr>
          <p:cNvSpPr/>
          <p:nvPr/>
        </p:nvSpPr>
        <p:spPr>
          <a:xfrm>
            <a:off x="9290050" y="5067300"/>
            <a:ext cx="952500" cy="1524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5EEA61D1-A365-489F-AE23-8ED21864909B}"/>
              </a:ext>
            </a:extLst>
          </p:cNvPr>
          <p:cNvSpPr txBox="1"/>
          <p:nvPr/>
        </p:nvSpPr>
        <p:spPr>
          <a:xfrm>
            <a:off x="9290050" y="5270500"/>
            <a:ext cx="224155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>
                <a:solidFill>
                  <a:srgbClr val="404040"/>
                </a:solidFill>
              </a:rPr>
              <a:t>Menos citada</a:t>
            </a:r>
          </a:p>
        </p:txBody>
      </p:sp>
    </p:spTree>
    <p:extLst>
      <p:ext uri="{BB962C8B-B14F-4D97-AF65-F5344CB8AC3E}">
        <p14:creationId xmlns:p14="http://schemas.microsoft.com/office/powerpoint/2010/main" val="4259670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9F628-473E-13C2-A056-518B36355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6AB231-41B7-8D6F-C806-D34D3533D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Passo 1: o formato dos dados decide tudo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1668A0F-27C5-4AE0-8181-F510E81D4D8B}"/>
              </a:ext>
            </a:extLst>
          </p:cNvPr>
          <p:cNvSpPr/>
          <p:nvPr/>
        </p:nvSpPr>
        <p:spPr>
          <a:xfrm>
            <a:off x="457200" y="1868488"/>
            <a:ext cx="5448300" cy="3810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A6A6A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85E08FB-DDCC-48A0-92A1-43E677FE10D1}"/>
              </a:ext>
            </a:extLst>
          </p:cNvPr>
          <p:cNvSpPr txBox="1"/>
          <p:nvPr/>
        </p:nvSpPr>
        <p:spPr>
          <a:xfrm>
            <a:off x="660400" y="2020888"/>
            <a:ext cx="50419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 b="1">
                <a:solidFill>
                  <a:srgbClr val="595959"/>
                </a:solidFill>
              </a:rPr>
              <a:t>Formato agregado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CF69450-A179-4A85-ADEB-31ED385C6DFB}"/>
              </a:ext>
            </a:extLst>
          </p:cNvPr>
          <p:cNvSpPr txBox="1"/>
          <p:nvPr/>
        </p:nvSpPr>
        <p:spPr>
          <a:xfrm>
            <a:off x="660400" y="2427288"/>
            <a:ext cx="50419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i="1">
                <a:solidFill>
                  <a:srgbClr val="595959"/>
                </a:solidFill>
              </a:rPr>
              <a:t>Só as contagens absolutas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CCF77E6B-2597-4CCB-A0C2-50BBED022F84}"/>
              </a:ext>
            </a:extLst>
          </p:cNvPr>
          <p:cNvGraphicFramePr>
            <a:graphicFrameLocks noGrp="1"/>
          </p:cNvGraphicFramePr>
          <p:nvPr/>
        </p:nvGraphicFramePr>
        <p:xfrm>
          <a:off x="660400" y="2833688"/>
          <a:ext cx="5041900" cy="1651000"/>
        </p:xfrm>
        <a:graphic>
          <a:graphicData uri="http://schemas.openxmlformats.org/drawingml/2006/table">
            <a:tbl>
              <a:tblPr/>
              <a:tblGrid>
                <a:gridCol w="2520950">
                  <a:extLst>
                    <a:ext uri="{9D8B030D-6E8A-4147-A177-3AD203B41FA5}">
                      <a16:colId xmlns:a16="http://schemas.microsoft.com/office/drawing/2014/main" val="704769155"/>
                    </a:ext>
                  </a:extLst>
                </a:gridCol>
                <a:gridCol w="2520950">
                  <a:extLst>
                    <a:ext uri="{9D8B030D-6E8A-4147-A177-3AD203B41FA5}">
                      <a16:colId xmlns:a16="http://schemas.microsoft.com/office/drawing/2014/main" val="211948579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Categoria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Incidência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A6A6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29713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pt-BR" sz="1400"/>
                        <a:t>A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82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158191319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pt-BR" sz="1400"/>
                        <a:t>B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64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128330666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pt-BR" sz="1400"/>
                        <a:t>C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48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118905878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pt-BR" sz="1400"/>
                        <a:t>D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42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1411345476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98EDDA4A-A020-4FC0-8C36-CDF960E7AC8A}"/>
              </a:ext>
            </a:extLst>
          </p:cNvPr>
          <p:cNvSpPr txBox="1"/>
          <p:nvPr/>
        </p:nvSpPr>
        <p:spPr>
          <a:xfrm>
            <a:off x="660400" y="4826000"/>
            <a:ext cx="50419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404040"/>
                </a:solidFill>
              </a:rPr>
              <a:t>Mostra a incidência de cada fonte. Mas NÃO sabemos quem marcou o quê — impossível calcular sobreposições.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E7845FF9-786D-4A1C-BDC9-46D0244A3CA3}"/>
              </a:ext>
            </a:extLst>
          </p:cNvPr>
          <p:cNvSpPr/>
          <p:nvPr/>
        </p:nvSpPr>
        <p:spPr>
          <a:xfrm>
            <a:off x="6286500" y="1868488"/>
            <a:ext cx="5448300" cy="3810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15608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0049CCC-9A7E-4AB5-845F-759A6BA6EC19}"/>
              </a:ext>
            </a:extLst>
          </p:cNvPr>
          <p:cNvSpPr txBox="1"/>
          <p:nvPr/>
        </p:nvSpPr>
        <p:spPr>
          <a:xfrm>
            <a:off x="6489700" y="2020888"/>
            <a:ext cx="50419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200" b="1">
                <a:solidFill>
                  <a:srgbClr val="156082"/>
                </a:solidFill>
              </a:rPr>
              <a:t>Uma linha por pessoa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F776483-288D-4565-B618-A05F152A3934}"/>
              </a:ext>
            </a:extLst>
          </p:cNvPr>
          <p:cNvSpPr txBox="1"/>
          <p:nvPr/>
        </p:nvSpPr>
        <p:spPr>
          <a:xfrm>
            <a:off x="6489700" y="2427288"/>
            <a:ext cx="50419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i="1">
                <a:solidFill>
                  <a:srgbClr val="595959"/>
                </a:solidFill>
              </a:rPr>
              <a:t>O formato da planilha</a:t>
            </a:r>
          </a:p>
        </p:txBody>
      </p:sp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D71C5C11-3084-483F-91A4-6BB681C8357C}"/>
              </a:ext>
            </a:extLst>
          </p:cNvPr>
          <p:cNvGraphicFramePr>
            <a:graphicFrameLocks noGrp="1"/>
          </p:cNvGraphicFramePr>
          <p:nvPr/>
        </p:nvGraphicFramePr>
        <p:xfrm>
          <a:off x="6489700" y="2833688"/>
          <a:ext cx="5041900" cy="1651000"/>
        </p:xfrm>
        <a:graphic>
          <a:graphicData uri="http://schemas.openxmlformats.org/drawingml/2006/table">
            <a:tbl>
              <a:tblPr/>
              <a:tblGrid>
                <a:gridCol w="1008380">
                  <a:extLst>
                    <a:ext uri="{9D8B030D-6E8A-4147-A177-3AD203B41FA5}">
                      <a16:colId xmlns:a16="http://schemas.microsoft.com/office/drawing/2014/main" val="4137938114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3204899561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1275102417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2061388949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4199275588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A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B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C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D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6335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pt-BR" sz="1400"/>
                        <a:t>2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1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1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0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0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206654024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pt-BR" sz="1400"/>
                        <a:t>3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1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0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1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1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76250909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pt-BR" sz="1400"/>
                        <a:t>4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1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1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0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/>
                        <a:t>0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367759950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pt-BR" sz="1400"/>
                        <a:t>…</a:t>
                      </a:r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/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/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/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/>
                    </a:p>
                  </a:txBody>
                  <a:tcPr marT="38100" marB="3810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3294473284"/>
                  </a:ext>
                </a:extLst>
              </a:tr>
            </a:tbl>
          </a:graphicData>
        </a:graphic>
      </p:graphicFrame>
      <p:sp>
        <p:nvSpPr>
          <p:cNvPr id="14" name="CaixaDeTexto 13">
            <a:extLst>
              <a:ext uri="{FF2B5EF4-FFF2-40B4-BE49-F238E27FC236}">
                <a16:creationId xmlns:a16="http://schemas.microsoft.com/office/drawing/2014/main" id="{7D91AECE-3D86-4F48-B4B2-176426ADE2CF}"/>
              </a:ext>
            </a:extLst>
          </p:cNvPr>
          <p:cNvSpPr txBox="1"/>
          <p:nvPr/>
        </p:nvSpPr>
        <p:spPr>
          <a:xfrm>
            <a:off x="6489700" y="4826000"/>
            <a:ext cx="50419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404040"/>
                </a:solidFill>
              </a:rPr>
              <a:t>Cada linha é uma pessoa, cada coluna uma fonte (1 = marcou). Daqui sai qualquer visualização, inclusive as sobreposições.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D0930AB-DD9E-49BC-94E9-6613E41462D5}"/>
              </a:ext>
            </a:extLst>
          </p:cNvPr>
          <p:cNvSpPr/>
          <p:nvPr/>
        </p:nvSpPr>
        <p:spPr>
          <a:xfrm>
            <a:off x="457200" y="5994400"/>
            <a:ext cx="11277600" cy="558800"/>
          </a:xfrm>
          <a:prstGeom prst="round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Regra de ouro: guarde os dados no nível do respondente. Agregar depois é fácil — desagregar é impossível.</a:t>
            </a:r>
          </a:p>
        </p:txBody>
      </p:sp>
    </p:spTree>
    <p:extLst>
      <p:ext uri="{BB962C8B-B14F-4D97-AF65-F5344CB8AC3E}">
        <p14:creationId xmlns:p14="http://schemas.microsoft.com/office/powerpoint/2010/main" val="3635992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1A8B2-0DE9-E841-6E39-12438CA4E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B708E8-AC8D-91AA-BE08-F38D6237F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Passo 2: comece pelo gráfico mais simples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9B0E610-BA90-4B45-9B55-116722D6AA36}"/>
              </a:ext>
            </a:extLst>
          </p:cNvPr>
          <p:cNvSpPr txBox="1"/>
          <p:nvPr/>
        </p:nvSpPr>
        <p:spPr>
          <a:xfrm>
            <a:off x="6731000" y="2198688"/>
            <a:ext cx="50038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>
                <a:solidFill>
                  <a:srgbClr val="404040"/>
                </a:solidFill>
              </a:rPr>
              <a:t>Barras ordenadas respondem “quais fontes são mais usadas?”. O eixo mostra contagem de observações — é o gráfico que o stakeholder entende em 3 segundos.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EC0CD3D-73FB-40D8-8F43-80967C0AFB36}"/>
              </a:ext>
            </a:extLst>
          </p:cNvPr>
          <p:cNvSpPr txBox="1"/>
          <p:nvPr/>
        </p:nvSpPr>
        <p:spPr>
          <a:xfrm>
            <a:off x="6731000" y="3976688"/>
            <a:ext cx="50038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 b="1">
                <a:solidFill>
                  <a:srgbClr val="E97132"/>
                </a:solidFill>
              </a:rPr>
              <a:t>Cuidado: nunca some as barras. As 4 contagens somam 236 marcações em 100 observações, porque cada pessoa pode marcar várias fontes.</a:t>
            </a:r>
          </a:p>
        </p:txBody>
      </p:sp>
      <p:graphicFrame>
        <p:nvGraphicFramePr>
          <p:cNvPr id="150" name="Chart 1"/>
          <p:cNvGraphicFramePr/>
          <p:nvPr/>
        </p:nvGraphicFramePr>
        <p:xfrm>
          <a:off x="457200" y="1828800"/>
          <a:ext cx="59436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8149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8ECF0-3420-B805-8ED9-11140B129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511DD6-3BF9-FA9E-B238-3E86C0EFE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Passo 3: mostre as combinações, não um Venn de 4 círculos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03E9C79D-4326-461E-86F3-3EEEE67F80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578727"/>
              </p:ext>
            </p:extLst>
          </p:nvPr>
        </p:nvGraphicFramePr>
        <p:xfrm>
          <a:off x="457200" y="1968500"/>
          <a:ext cx="6731000" cy="311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1279280398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3431348773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Combinação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FFFFFF"/>
                          </a:solidFill>
                        </a:rPr>
                        <a:t>Pessoas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2667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pt-BR" sz="1400"/>
                        <a:t>A + B  Economia pessoal + Pensão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400"/>
                        <a:t>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3058698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pt-BR" sz="1400"/>
                        <a:t>A + C  Economia pessoal + Aposent. privada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400"/>
                        <a:t>48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95024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pt-BR" sz="1400"/>
                        <a:t>A + D  Economia pessoal + Imóveis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400"/>
                        <a:t>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084879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pt-BR" sz="1400"/>
                        <a:t>B + C  Pensão + Aposent. privada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400"/>
                        <a:t>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7148737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pt-BR" sz="1400"/>
                        <a:t>B + D  Pensão + Imóveis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400"/>
                        <a:t>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889936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pt-BR" sz="1400"/>
                        <a:t>C + D  Aposent. privada + Imóveis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40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0747537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97817708-2003-4A2B-ABAD-866684106C54}"/>
              </a:ext>
            </a:extLst>
          </p:cNvPr>
          <p:cNvSpPr txBox="1"/>
          <p:nvPr/>
        </p:nvSpPr>
        <p:spPr>
          <a:xfrm>
            <a:off x="7569200" y="1968500"/>
            <a:ext cx="41656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2000" b="1">
                <a:solidFill>
                  <a:srgbClr val="156082"/>
                </a:solidFill>
              </a:rPr>
              <a:t>Por que não um Venn?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22E7511-0CCA-41FC-A920-16337D92EF43}"/>
              </a:ext>
            </a:extLst>
          </p:cNvPr>
          <p:cNvSpPr txBox="1"/>
          <p:nvPr/>
        </p:nvSpPr>
        <p:spPr>
          <a:xfrm>
            <a:off x="7569200" y="2451100"/>
            <a:ext cx="41656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700">
                <a:solidFill>
                  <a:srgbClr val="404040"/>
                </a:solidFill>
              </a:rPr>
              <a:t>Com 4 categorias, um Venn exige 15 regiões — ilegível. Uma tabela ordenada (ou um gráfico de barras das combinações) comunica melhor.
Use Venn só com 2 ou 3 categorias.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E371375-A031-4E6D-9DB6-B2ACF464E27D}"/>
              </a:ext>
            </a:extLst>
          </p:cNvPr>
          <p:cNvSpPr/>
          <p:nvPr/>
        </p:nvSpPr>
        <p:spPr>
          <a:xfrm>
            <a:off x="7569200" y="4457700"/>
            <a:ext cx="4165600" cy="1905000"/>
          </a:xfrm>
          <a:prstGeom prst="roundRect">
            <a:avLst/>
          </a:prstGeom>
          <a:solidFill>
            <a:srgbClr val="FDF0E6"/>
          </a:solidFill>
          <a:ln w="19050" cap="flat" cmpd="sng" algn="ctr">
            <a:solidFill>
              <a:srgbClr val="E9713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>
            <a:noAutofit/>
          </a:bodyPr>
          <a:lstStyle/>
          <a:p>
            <a:pPr algn="l"/>
            <a:r>
              <a:rPr lang="pt-BR" sz="1500">
                <a:solidFill>
                  <a:srgbClr val="7A3D0A"/>
                </a:solidFill>
              </a:rPr>
              <a:t>Atenção ao interpretar
A + C = 48, igual ao total de C. Ou seja: 100% de quem tem aposentadoria privada também poupa por conta própria. Verifique achados assim antes de reportar.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E67E133-BEB9-48C3-884D-853A820B721C}"/>
              </a:ext>
            </a:extLst>
          </p:cNvPr>
          <p:cNvSpPr txBox="1"/>
          <p:nvPr/>
        </p:nvSpPr>
        <p:spPr>
          <a:xfrm>
            <a:off x="457200" y="5232400"/>
            <a:ext cx="6731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 i="1">
                <a:solidFill>
                  <a:srgbClr val="404040"/>
                </a:solidFill>
              </a:rPr>
              <a:t>Contagens absolutas: quantas observações marcaram as duas fontes do par.</a:t>
            </a:r>
          </a:p>
        </p:txBody>
      </p:sp>
    </p:spTree>
    <p:extLst>
      <p:ext uri="{BB962C8B-B14F-4D97-AF65-F5344CB8AC3E}">
        <p14:creationId xmlns:p14="http://schemas.microsoft.com/office/powerpoint/2010/main" val="3596493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FA9B49-C4E3-06DB-5693-3D2A6E90E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Passo 4: a pergunta que o stakeholder realmente faz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E2AF710-8A99-415D-AEB3-6ADF7DFEF026}"/>
              </a:ext>
            </a:extLst>
          </p:cNvPr>
          <p:cNvSpPr txBox="1"/>
          <p:nvPr/>
        </p:nvSpPr>
        <p:spPr>
          <a:xfrm>
            <a:off x="6731000" y="2286000"/>
            <a:ext cx="50038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>
                <a:solidFill>
                  <a:srgbClr val="404040"/>
                </a:solidFill>
              </a:rPr>
              <a:t>“As pessoas dependem de uma fonte só ou de várias?”
Esta leitura só existe porque temos a linha de cada observação — a tabela de incidência agregada não permite calculá-la.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7E0659E-294F-40E6-AF40-B8A6E0A66FAB}"/>
              </a:ext>
            </a:extLst>
          </p:cNvPr>
          <p:cNvSpPr/>
          <p:nvPr/>
        </p:nvSpPr>
        <p:spPr>
          <a:xfrm>
            <a:off x="6731000" y="4381500"/>
            <a:ext cx="5003800" cy="1905000"/>
          </a:xfrm>
          <a:prstGeom prst="roundRect">
            <a:avLst/>
          </a:prstGeom>
          <a:solidFill>
            <a:srgbClr val="EAF1F4"/>
          </a:solidFill>
          <a:ln w="19050" cap="flat" cmpd="sng" algn="ctr">
            <a:solidFill>
              <a:srgbClr val="15608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>
            <a:noAutofit/>
          </a:bodyPr>
          <a:lstStyle/>
          <a:p>
            <a:pPr algn="l"/>
            <a:r>
              <a:rPr lang="pt-BR" sz="1600">
                <a:solidFill>
                  <a:srgbClr val="0E2841"/>
                </a:solidFill>
              </a:rPr>
              <a:t>A leitura de uma frase
48 observações combinam 3 ou mais fontes de renda. Apenas 19 dependem de uma única fonte e 3 não indicaram nenhuma.</a:t>
            </a:r>
          </a:p>
        </p:txBody>
      </p:sp>
      <p:graphicFrame>
        <p:nvGraphicFramePr>
          <p:cNvPr id="151" name="Chart 2"/>
          <p:cNvGraphicFramePr/>
          <p:nvPr/>
        </p:nvGraphicFramePr>
        <p:xfrm>
          <a:off x="457200" y="1866900"/>
          <a:ext cx="5943600" cy="403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5565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DA23683-269E-4AFD-A65C-42AC1281DE7D}"/>
              </a:ext>
            </a:extLst>
          </p:cNvPr>
          <p:cNvSpPr/>
          <p:nvPr/>
        </p:nvSpPr>
        <p:spPr>
          <a:xfrm>
            <a:off x="1778000" y="5257800"/>
            <a:ext cx="9652000" cy="304800"/>
          </a:xfrm>
          <a:prstGeom prst="rect">
            <a:avLst/>
          </a:prstGeom>
          <a:solidFill>
            <a:srgbClr val="F4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3CE7879-0F98-47D0-87CF-7C35B4DD4ED3}"/>
              </a:ext>
            </a:extLst>
          </p:cNvPr>
          <p:cNvSpPr/>
          <p:nvPr/>
        </p:nvSpPr>
        <p:spPr>
          <a:xfrm>
            <a:off x="1778000" y="4648200"/>
            <a:ext cx="9652000" cy="304800"/>
          </a:xfrm>
          <a:prstGeom prst="rect">
            <a:avLst/>
          </a:prstGeom>
          <a:solidFill>
            <a:srgbClr val="F4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99E06F9-21AD-CF56-F088-E9C75A3BB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400"/>
              <a:t>UpSet plot: as combinações exclusivas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9728194-E447-4242-A531-2CA02A34D4B5}"/>
              </a:ext>
            </a:extLst>
          </p:cNvPr>
          <p:cNvSpPr txBox="1"/>
          <p:nvPr/>
        </p:nvSpPr>
        <p:spPr>
          <a:xfrm>
            <a:off x="457200" y="4648200"/>
            <a:ext cx="1168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156082"/>
                </a:solidFill>
              </a:rPr>
              <a:t>A   82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F9DD941-1690-426C-AFA1-0D2A3D57690B}"/>
              </a:ext>
            </a:extLst>
          </p:cNvPr>
          <p:cNvSpPr txBox="1"/>
          <p:nvPr/>
        </p:nvSpPr>
        <p:spPr>
          <a:xfrm>
            <a:off x="457200" y="4953000"/>
            <a:ext cx="1168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B0530F"/>
                </a:solidFill>
              </a:rPr>
              <a:t>B   64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EAE1654-0996-442A-BD9D-25BEAF432BCB}"/>
              </a:ext>
            </a:extLst>
          </p:cNvPr>
          <p:cNvSpPr txBox="1"/>
          <p:nvPr/>
        </p:nvSpPr>
        <p:spPr>
          <a:xfrm>
            <a:off x="457200" y="5257800"/>
            <a:ext cx="1168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0A6E96"/>
                </a:solidFill>
              </a:rPr>
              <a:t>C   48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7886A73-DBFC-4067-B2DF-226DA2AF999D}"/>
              </a:ext>
            </a:extLst>
          </p:cNvPr>
          <p:cNvSpPr txBox="1"/>
          <p:nvPr/>
        </p:nvSpPr>
        <p:spPr>
          <a:xfrm>
            <a:off x="457200" y="5562600"/>
            <a:ext cx="1168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b="1">
                <a:solidFill>
                  <a:srgbClr val="196B24"/>
                </a:solidFill>
              </a:rPr>
              <a:t>D   42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414E98C-FE0B-4647-88D5-29F246A7DFCA}"/>
              </a:ext>
            </a:extLst>
          </p:cNvPr>
          <p:cNvSpPr/>
          <p:nvPr/>
        </p:nvSpPr>
        <p:spPr>
          <a:xfrm>
            <a:off x="2161116" y="4800600"/>
            <a:ext cx="38100" cy="609600"/>
          </a:xfrm>
          <a:prstGeom prst="rect">
            <a:avLst/>
          </a:prstGeom>
          <a:solidFill>
            <a:srgbClr val="4040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0634E36B-518A-48A2-85A6-06819FC10C63}"/>
              </a:ext>
            </a:extLst>
          </p:cNvPr>
          <p:cNvSpPr/>
          <p:nvPr/>
        </p:nvSpPr>
        <p:spPr>
          <a:xfrm>
            <a:off x="2078566" y="4699000"/>
            <a:ext cx="203200" cy="2032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69355516-002C-4388-9257-BAC72218F33B}"/>
              </a:ext>
            </a:extLst>
          </p:cNvPr>
          <p:cNvSpPr/>
          <p:nvPr/>
        </p:nvSpPr>
        <p:spPr>
          <a:xfrm>
            <a:off x="2078566" y="5003800"/>
            <a:ext cx="203200" cy="203200"/>
          </a:xfrm>
          <a:prstGeom prst="ellipse">
            <a:avLst/>
          </a:prstGeom>
          <a:solidFill>
            <a:srgbClr val="B0530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1DBB60B0-273A-4871-BD1E-A1A6859327FA}"/>
              </a:ext>
            </a:extLst>
          </p:cNvPr>
          <p:cNvSpPr/>
          <p:nvPr/>
        </p:nvSpPr>
        <p:spPr>
          <a:xfrm>
            <a:off x="2078566" y="5308600"/>
            <a:ext cx="203200" cy="203200"/>
          </a:xfrm>
          <a:prstGeom prst="ellipse">
            <a:avLst/>
          </a:prstGeom>
          <a:solidFill>
            <a:srgbClr val="0A6E9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E08AB567-EBD6-4986-A932-8843D1A3E1D3}"/>
              </a:ext>
            </a:extLst>
          </p:cNvPr>
          <p:cNvSpPr/>
          <p:nvPr/>
        </p:nvSpPr>
        <p:spPr>
          <a:xfrm>
            <a:off x="2078566" y="5613400"/>
            <a:ext cx="203200" cy="203200"/>
          </a:xfrm>
          <a:prstGeom prst="ellipse">
            <a:avLst/>
          </a:prstGeom>
          <a:solidFill>
            <a:srgbClr val="DCE1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CC9BBD0-8A97-4B27-9520-5EC2282A8A2C}"/>
              </a:ext>
            </a:extLst>
          </p:cNvPr>
          <p:cNvSpPr/>
          <p:nvPr/>
        </p:nvSpPr>
        <p:spPr>
          <a:xfrm>
            <a:off x="2965450" y="4800600"/>
            <a:ext cx="38100" cy="914400"/>
          </a:xfrm>
          <a:prstGeom prst="rect">
            <a:avLst/>
          </a:prstGeom>
          <a:solidFill>
            <a:srgbClr val="4040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648CDBC4-21F9-4971-9F9A-E1AC0079270E}"/>
              </a:ext>
            </a:extLst>
          </p:cNvPr>
          <p:cNvSpPr/>
          <p:nvPr/>
        </p:nvSpPr>
        <p:spPr>
          <a:xfrm>
            <a:off x="2882900" y="4699000"/>
            <a:ext cx="203200" cy="2032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6E685EBD-AC95-4348-A21F-EF50DB9EC5DA}"/>
              </a:ext>
            </a:extLst>
          </p:cNvPr>
          <p:cNvSpPr/>
          <p:nvPr/>
        </p:nvSpPr>
        <p:spPr>
          <a:xfrm>
            <a:off x="2882900" y="5003800"/>
            <a:ext cx="203200" cy="203200"/>
          </a:xfrm>
          <a:prstGeom prst="ellipse">
            <a:avLst/>
          </a:prstGeom>
          <a:solidFill>
            <a:srgbClr val="B0530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42322675-2EB8-4F8F-9257-212DF49433B7}"/>
              </a:ext>
            </a:extLst>
          </p:cNvPr>
          <p:cNvSpPr/>
          <p:nvPr/>
        </p:nvSpPr>
        <p:spPr>
          <a:xfrm>
            <a:off x="2882900" y="5308600"/>
            <a:ext cx="203200" cy="203200"/>
          </a:xfrm>
          <a:prstGeom prst="ellipse">
            <a:avLst/>
          </a:prstGeom>
          <a:solidFill>
            <a:srgbClr val="0A6E9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39C06B18-EB70-4108-AF5D-CC2E15F475D7}"/>
              </a:ext>
            </a:extLst>
          </p:cNvPr>
          <p:cNvSpPr/>
          <p:nvPr/>
        </p:nvSpPr>
        <p:spPr>
          <a:xfrm>
            <a:off x="2882900" y="5613400"/>
            <a:ext cx="203200" cy="2032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A5A8E0D-329F-4547-8AF7-DCB97B372650}"/>
              </a:ext>
            </a:extLst>
          </p:cNvPr>
          <p:cNvSpPr/>
          <p:nvPr/>
        </p:nvSpPr>
        <p:spPr>
          <a:xfrm>
            <a:off x="3769783" y="4800600"/>
            <a:ext cx="38100" cy="304800"/>
          </a:xfrm>
          <a:prstGeom prst="rect">
            <a:avLst/>
          </a:prstGeom>
          <a:solidFill>
            <a:srgbClr val="4040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19581B66-A88C-4BF4-ABE3-C12D6E123E62}"/>
              </a:ext>
            </a:extLst>
          </p:cNvPr>
          <p:cNvSpPr/>
          <p:nvPr/>
        </p:nvSpPr>
        <p:spPr>
          <a:xfrm>
            <a:off x="3687233" y="4699000"/>
            <a:ext cx="203200" cy="2032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A43AAEE7-BCBC-4F88-A523-B250E1AE2E7B}"/>
              </a:ext>
            </a:extLst>
          </p:cNvPr>
          <p:cNvSpPr/>
          <p:nvPr/>
        </p:nvSpPr>
        <p:spPr>
          <a:xfrm>
            <a:off x="3687233" y="5003800"/>
            <a:ext cx="203200" cy="203200"/>
          </a:xfrm>
          <a:prstGeom prst="ellipse">
            <a:avLst/>
          </a:prstGeom>
          <a:solidFill>
            <a:srgbClr val="B0530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6784FC4E-CDF9-4A71-9FB0-50FD57D5D3F4}"/>
              </a:ext>
            </a:extLst>
          </p:cNvPr>
          <p:cNvSpPr/>
          <p:nvPr/>
        </p:nvSpPr>
        <p:spPr>
          <a:xfrm>
            <a:off x="3687233" y="5308600"/>
            <a:ext cx="203200" cy="203200"/>
          </a:xfrm>
          <a:prstGeom prst="ellipse">
            <a:avLst/>
          </a:prstGeom>
          <a:solidFill>
            <a:srgbClr val="DCE1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0132E203-DF99-4325-8F05-810B684663E1}"/>
              </a:ext>
            </a:extLst>
          </p:cNvPr>
          <p:cNvSpPr/>
          <p:nvPr/>
        </p:nvSpPr>
        <p:spPr>
          <a:xfrm>
            <a:off x="3687233" y="5613400"/>
            <a:ext cx="203200" cy="203200"/>
          </a:xfrm>
          <a:prstGeom prst="ellipse">
            <a:avLst/>
          </a:prstGeom>
          <a:solidFill>
            <a:srgbClr val="DCE1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29A6431-F2FF-489E-8A11-A16AF8906001}"/>
              </a:ext>
            </a:extLst>
          </p:cNvPr>
          <p:cNvSpPr/>
          <p:nvPr/>
        </p:nvSpPr>
        <p:spPr>
          <a:xfrm>
            <a:off x="4574116" y="4800600"/>
            <a:ext cx="38100" cy="914400"/>
          </a:xfrm>
          <a:prstGeom prst="rect">
            <a:avLst/>
          </a:prstGeom>
          <a:solidFill>
            <a:srgbClr val="4040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015284E2-02F9-45A1-821A-40D3F58B9DA4}"/>
              </a:ext>
            </a:extLst>
          </p:cNvPr>
          <p:cNvSpPr/>
          <p:nvPr/>
        </p:nvSpPr>
        <p:spPr>
          <a:xfrm>
            <a:off x="4491566" y="4699000"/>
            <a:ext cx="203200" cy="2032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B756BB42-6776-4037-9B2F-B7698A93D347}"/>
              </a:ext>
            </a:extLst>
          </p:cNvPr>
          <p:cNvSpPr/>
          <p:nvPr/>
        </p:nvSpPr>
        <p:spPr>
          <a:xfrm>
            <a:off x="4491566" y="5003800"/>
            <a:ext cx="203200" cy="203200"/>
          </a:xfrm>
          <a:prstGeom prst="ellipse">
            <a:avLst/>
          </a:prstGeom>
          <a:solidFill>
            <a:srgbClr val="DCE1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79F80050-23B2-4360-A5CC-F0E8A0889C5E}"/>
              </a:ext>
            </a:extLst>
          </p:cNvPr>
          <p:cNvSpPr/>
          <p:nvPr/>
        </p:nvSpPr>
        <p:spPr>
          <a:xfrm>
            <a:off x="4491566" y="5308600"/>
            <a:ext cx="203200" cy="203200"/>
          </a:xfrm>
          <a:prstGeom prst="ellipse">
            <a:avLst/>
          </a:prstGeom>
          <a:solidFill>
            <a:srgbClr val="0A6E9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64F3B057-A274-4A8A-9D19-6D1A5ABE35D6}"/>
              </a:ext>
            </a:extLst>
          </p:cNvPr>
          <p:cNvSpPr/>
          <p:nvPr/>
        </p:nvSpPr>
        <p:spPr>
          <a:xfrm>
            <a:off x="4491566" y="5613400"/>
            <a:ext cx="203200" cy="2032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68D44F53-5251-4CB2-992D-5CFB7D481EEB}"/>
              </a:ext>
            </a:extLst>
          </p:cNvPr>
          <p:cNvSpPr/>
          <p:nvPr/>
        </p:nvSpPr>
        <p:spPr>
          <a:xfrm>
            <a:off x="5295900" y="4699000"/>
            <a:ext cx="203200" cy="2032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023D6448-0286-495B-93A2-09762FB1F287}"/>
              </a:ext>
            </a:extLst>
          </p:cNvPr>
          <p:cNvSpPr/>
          <p:nvPr/>
        </p:nvSpPr>
        <p:spPr>
          <a:xfrm>
            <a:off x="5295900" y="5003800"/>
            <a:ext cx="203200" cy="203200"/>
          </a:xfrm>
          <a:prstGeom prst="ellipse">
            <a:avLst/>
          </a:prstGeom>
          <a:solidFill>
            <a:srgbClr val="DCE1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1269CB3B-1C5C-4FE1-8449-AC89B7F8BA1E}"/>
              </a:ext>
            </a:extLst>
          </p:cNvPr>
          <p:cNvSpPr/>
          <p:nvPr/>
        </p:nvSpPr>
        <p:spPr>
          <a:xfrm>
            <a:off x="5295900" y="5308600"/>
            <a:ext cx="203200" cy="203200"/>
          </a:xfrm>
          <a:prstGeom prst="ellipse">
            <a:avLst/>
          </a:prstGeom>
          <a:solidFill>
            <a:srgbClr val="DCE1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49AC9383-47EE-4E60-ABCE-16FC6B478C9E}"/>
              </a:ext>
            </a:extLst>
          </p:cNvPr>
          <p:cNvSpPr/>
          <p:nvPr/>
        </p:nvSpPr>
        <p:spPr>
          <a:xfrm>
            <a:off x="5295900" y="5613400"/>
            <a:ext cx="203200" cy="203200"/>
          </a:xfrm>
          <a:prstGeom prst="ellipse">
            <a:avLst/>
          </a:prstGeom>
          <a:solidFill>
            <a:srgbClr val="DCE1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AED9B877-1179-4A37-9C5F-CD51115AAE75}"/>
              </a:ext>
            </a:extLst>
          </p:cNvPr>
          <p:cNvSpPr/>
          <p:nvPr/>
        </p:nvSpPr>
        <p:spPr>
          <a:xfrm>
            <a:off x="6182783" y="4800600"/>
            <a:ext cx="38100" cy="914400"/>
          </a:xfrm>
          <a:prstGeom prst="rect">
            <a:avLst/>
          </a:prstGeom>
          <a:solidFill>
            <a:srgbClr val="4040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BC5343B0-756F-4B04-95CB-090D26B53556}"/>
              </a:ext>
            </a:extLst>
          </p:cNvPr>
          <p:cNvSpPr/>
          <p:nvPr/>
        </p:nvSpPr>
        <p:spPr>
          <a:xfrm>
            <a:off x="6100233" y="4699000"/>
            <a:ext cx="203200" cy="2032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D6C82A7F-0BF0-46CF-AC2C-16A4EEA2B092}"/>
              </a:ext>
            </a:extLst>
          </p:cNvPr>
          <p:cNvSpPr/>
          <p:nvPr/>
        </p:nvSpPr>
        <p:spPr>
          <a:xfrm>
            <a:off x="6100233" y="5003800"/>
            <a:ext cx="203200" cy="203200"/>
          </a:xfrm>
          <a:prstGeom prst="ellipse">
            <a:avLst/>
          </a:prstGeom>
          <a:solidFill>
            <a:srgbClr val="B0530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79F25D98-C2ED-4BAD-91B3-8D7540E5AA5F}"/>
              </a:ext>
            </a:extLst>
          </p:cNvPr>
          <p:cNvSpPr/>
          <p:nvPr/>
        </p:nvSpPr>
        <p:spPr>
          <a:xfrm>
            <a:off x="6100233" y="5308600"/>
            <a:ext cx="203200" cy="203200"/>
          </a:xfrm>
          <a:prstGeom prst="ellipse">
            <a:avLst/>
          </a:prstGeom>
          <a:solidFill>
            <a:srgbClr val="DCE1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D575C7B4-8E6D-437F-80E2-207A8A0E68C8}"/>
              </a:ext>
            </a:extLst>
          </p:cNvPr>
          <p:cNvSpPr/>
          <p:nvPr/>
        </p:nvSpPr>
        <p:spPr>
          <a:xfrm>
            <a:off x="6100233" y="5613400"/>
            <a:ext cx="203200" cy="2032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11804889-EABB-47C0-9199-F8D0621D0154}"/>
              </a:ext>
            </a:extLst>
          </p:cNvPr>
          <p:cNvSpPr/>
          <p:nvPr/>
        </p:nvSpPr>
        <p:spPr>
          <a:xfrm>
            <a:off x="6987116" y="4800600"/>
            <a:ext cx="38100" cy="609600"/>
          </a:xfrm>
          <a:prstGeom prst="rect">
            <a:avLst/>
          </a:prstGeom>
          <a:solidFill>
            <a:srgbClr val="4040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6DF607FA-A906-485E-A81E-C9EE8B8C49D4}"/>
              </a:ext>
            </a:extLst>
          </p:cNvPr>
          <p:cNvSpPr/>
          <p:nvPr/>
        </p:nvSpPr>
        <p:spPr>
          <a:xfrm>
            <a:off x="6904566" y="4699000"/>
            <a:ext cx="203200" cy="2032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FC4CAACD-E4FE-40EF-B04B-DBB661103489}"/>
              </a:ext>
            </a:extLst>
          </p:cNvPr>
          <p:cNvSpPr/>
          <p:nvPr/>
        </p:nvSpPr>
        <p:spPr>
          <a:xfrm>
            <a:off x="6904566" y="5003800"/>
            <a:ext cx="203200" cy="203200"/>
          </a:xfrm>
          <a:prstGeom prst="ellipse">
            <a:avLst/>
          </a:prstGeom>
          <a:solidFill>
            <a:srgbClr val="DCE1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087DE24E-96C7-423B-A5CB-B6D0D7071FAE}"/>
              </a:ext>
            </a:extLst>
          </p:cNvPr>
          <p:cNvSpPr/>
          <p:nvPr/>
        </p:nvSpPr>
        <p:spPr>
          <a:xfrm>
            <a:off x="6904566" y="5308600"/>
            <a:ext cx="203200" cy="203200"/>
          </a:xfrm>
          <a:prstGeom prst="ellipse">
            <a:avLst/>
          </a:prstGeom>
          <a:solidFill>
            <a:srgbClr val="0A6E9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67C243B5-515F-487E-B1ED-7DF060545AE3}"/>
              </a:ext>
            </a:extLst>
          </p:cNvPr>
          <p:cNvSpPr/>
          <p:nvPr/>
        </p:nvSpPr>
        <p:spPr>
          <a:xfrm>
            <a:off x="6904566" y="5613400"/>
            <a:ext cx="203200" cy="203200"/>
          </a:xfrm>
          <a:prstGeom prst="ellipse">
            <a:avLst/>
          </a:prstGeom>
          <a:solidFill>
            <a:srgbClr val="DCE1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C67973BF-F0B2-43E5-B536-081E6BA85EE9}"/>
              </a:ext>
            </a:extLst>
          </p:cNvPr>
          <p:cNvSpPr/>
          <p:nvPr/>
        </p:nvSpPr>
        <p:spPr>
          <a:xfrm>
            <a:off x="7708900" y="4699000"/>
            <a:ext cx="203200" cy="203200"/>
          </a:xfrm>
          <a:prstGeom prst="ellipse">
            <a:avLst/>
          </a:prstGeom>
          <a:solidFill>
            <a:srgbClr val="DCE1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BCF9F88B-24E8-40AA-AADA-924DC664864D}"/>
              </a:ext>
            </a:extLst>
          </p:cNvPr>
          <p:cNvSpPr/>
          <p:nvPr/>
        </p:nvSpPr>
        <p:spPr>
          <a:xfrm>
            <a:off x="7708900" y="5003800"/>
            <a:ext cx="203200" cy="203200"/>
          </a:xfrm>
          <a:prstGeom prst="ellipse">
            <a:avLst/>
          </a:prstGeom>
          <a:solidFill>
            <a:srgbClr val="B0530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554FB777-9B74-4C23-BDB1-728B41E2ADAB}"/>
              </a:ext>
            </a:extLst>
          </p:cNvPr>
          <p:cNvSpPr/>
          <p:nvPr/>
        </p:nvSpPr>
        <p:spPr>
          <a:xfrm>
            <a:off x="7708900" y="5308600"/>
            <a:ext cx="203200" cy="203200"/>
          </a:xfrm>
          <a:prstGeom prst="ellipse">
            <a:avLst/>
          </a:prstGeom>
          <a:solidFill>
            <a:srgbClr val="DCE1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065B7099-7F7F-4E57-98A6-86D757DAB852}"/>
              </a:ext>
            </a:extLst>
          </p:cNvPr>
          <p:cNvSpPr/>
          <p:nvPr/>
        </p:nvSpPr>
        <p:spPr>
          <a:xfrm>
            <a:off x="7708900" y="5613400"/>
            <a:ext cx="203200" cy="203200"/>
          </a:xfrm>
          <a:prstGeom prst="ellipse">
            <a:avLst/>
          </a:prstGeom>
          <a:solidFill>
            <a:srgbClr val="DCE1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A1AD5EBE-013F-4163-847C-1D7994311883}"/>
              </a:ext>
            </a:extLst>
          </p:cNvPr>
          <p:cNvSpPr/>
          <p:nvPr/>
        </p:nvSpPr>
        <p:spPr>
          <a:xfrm>
            <a:off x="8595783" y="5105400"/>
            <a:ext cx="38100" cy="609600"/>
          </a:xfrm>
          <a:prstGeom prst="rect">
            <a:avLst/>
          </a:prstGeom>
          <a:solidFill>
            <a:srgbClr val="4040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3D6D4BCB-B7D3-42F5-B805-EB002E0ACCE5}"/>
              </a:ext>
            </a:extLst>
          </p:cNvPr>
          <p:cNvSpPr/>
          <p:nvPr/>
        </p:nvSpPr>
        <p:spPr>
          <a:xfrm>
            <a:off x="8513233" y="4699000"/>
            <a:ext cx="203200" cy="203200"/>
          </a:xfrm>
          <a:prstGeom prst="ellipse">
            <a:avLst/>
          </a:prstGeom>
          <a:solidFill>
            <a:srgbClr val="DCE1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9C85A7B3-47A5-4E33-805D-3B3F40BDD6F7}"/>
              </a:ext>
            </a:extLst>
          </p:cNvPr>
          <p:cNvSpPr/>
          <p:nvPr/>
        </p:nvSpPr>
        <p:spPr>
          <a:xfrm>
            <a:off x="8513233" y="5003800"/>
            <a:ext cx="203200" cy="203200"/>
          </a:xfrm>
          <a:prstGeom prst="ellipse">
            <a:avLst/>
          </a:prstGeom>
          <a:solidFill>
            <a:srgbClr val="B0530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AB4AE342-1453-44A3-874D-90A5EAC17316}"/>
              </a:ext>
            </a:extLst>
          </p:cNvPr>
          <p:cNvSpPr/>
          <p:nvPr/>
        </p:nvSpPr>
        <p:spPr>
          <a:xfrm>
            <a:off x="8513233" y="5308600"/>
            <a:ext cx="203200" cy="203200"/>
          </a:xfrm>
          <a:prstGeom prst="ellipse">
            <a:avLst/>
          </a:prstGeom>
          <a:solidFill>
            <a:srgbClr val="DCE1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66657B82-DC7E-424B-BDC5-A2EE62BF09EC}"/>
              </a:ext>
            </a:extLst>
          </p:cNvPr>
          <p:cNvSpPr/>
          <p:nvPr/>
        </p:nvSpPr>
        <p:spPr>
          <a:xfrm>
            <a:off x="8513233" y="5613400"/>
            <a:ext cx="203200" cy="2032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B10DF361-D27B-4016-8717-D1E23D944132}"/>
              </a:ext>
            </a:extLst>
          </p:cNvPr>
          <p:cNvSpPr/>
          <p:nvPr/>
        </p:nvSpPr>
        <p:spPr>
          <a:xfrm>
            <a:off x="9400116" y="4800600"/>
            <a:ext cx="38100" cy="914400"/>
          </a:xfrm>
          <a:prstGeom prst="rect">
            <a:avLst/>
          </a:prstGeom>
          <a:solidFill>
            <a:srgbClr val="40404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DB7486A7-DD19-4C27-9F46-48163CF05FB6}"/>
              </a:ext>
            </a:extLst>
          </p:cNvPr>
          <p:cNvSpPr/>
          <p:nvPr/>
        </p:nvSpPr>
        <p:spPr>
          <a:xfrm>
            <a:off x="9317566" y="4699000"/>
            <a:ext cx="203200" cy="2032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39A3CB13-BC78-41A3-B0BE-42535AF2B146}"/>
              </a:ext>
            </a:extLst>
          </p:cNvPr>
          <p:cNvSpPr/>
          <p:nvPr/>
        </p:nvSpPr>
        <p:spPr>
          <a:xfrm>
            <a:off x="9317566" y="5003800"/>
            <a:ext cx="203200" cy="203200"/>
          </a:xfrm>
          <a:prstGeom prst="ellipse">
            <a:avLst/>
          </a:prstGeom>
          <a:solidFill>
            <a:srgbClr val="DCE1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C348B3E8-A65A-465E-A948-24C747EB5EA3}"/>
              </a:ext>
            </a:extLst>
          </p:cNvPr>
          <p:cNvSpPr/>
          <p:nvPr/>
        </p:nvSpPr>
        <p:spPr>
          <a:xfrm>
            <a:off x="9317566" y="5308600"/>
            <a:ext cx="203200" cy="203200"/>
          </a:xfrm>
          <a:prstGeom prst="ellipse">
            <a:avLst/>
          </a:prstGeom>
          <a:solidFill>
            <a:srgbClr val="DCE1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55A397FC-D9C8-4D90-A23D-3FCD3E31A978}"/>
              </a:ext>
            </a:extLst>
          </p:cNvPr>
          <p:cNvSpPr/>
          <p:nvPr/>
        </p:nvSpPr>
        <p:spPr>
          <a:xfrm>
            <a:off x="9317566" y="5613400"/>
            <a:ext cx="203200" cy="2032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7" name="Elipse 56">
            <a:extLst>
              <a:ext uri="{FF2B5EF4-FFF2-40B4-BE49-F238E27FC236}">
                <a16:creationId xmlns:a16="http://schemas.microsoft.com/office/drawing/2014/main" id="{49471308-DC5D-47B2-91F2-31488FA95BDC}"/>
              </a:ext>
            </a:extLst>
          </p:cNvPr>
          <p:cNvSpPr/>
          <p:nvPr/>
        </p:nvSpPr>
        <p:spPr>
          <a:xfrm>
            <a:off x="10121900" y="4699000"/>
            <a:ext cx="203200" cy="203200"/>
          </a:xfrm>
          <a:prstGeom prst="ellipse">
            <a:avLst/>
          </a:prstGeom>
          <a:solidFill>
            <a:srgbClr val="DCE1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8" name="Elipse 57">
            <a:extLst>
              <a:ext uri="{FF2B5EF4-FFF2-40B4-BE49-F238E27FC236}">
                <a16:creationId xmlns:a16="http://schemas.microsoft.com/office/drawing/2014/main" id="{7227B862-D551-4F0A-8883-0DE84CC30FD7}"/>
              </a:ext>
            </a:extLst>
          </p:cNvPr>
          <p:cNvSpPr/>
          <p:nvPr/>
        </p:nvSpPr>
        <p:spPr>
          <a:xfrm>
            <a:off x="10121900" y="5003800"/>
            <a:ext cx="203200" cy="203200"/>
          </a:xfrm>
          <a:prstGeom prst="ellipse">
            <a:avLst/>
          </a:prstGeom>
          <a:solidFill>
            <a:srgbClr val="DCE1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9" name="Elipse 58">
            <a:extLst>
              <a:ext uri="{FF2B5EF4-FFF2-40B4-BE49-F238E27FC236}">
                <a16:creationId xmlns:a16="http://schemas.microsoft.com/office/drawing/2014/main" id="{99308C22-2F58-4AB5-87F4-7C4957044E30}"/>
              </a:ext>
            </a:extLst>
          </p:cNvPr>
          <p:cNvSpPr/>
          <p:nvPr/>
        </p:nvSpPr>
        <p:spPr>
          <a:xfrm>
            <a:off x="10121900" y="5308600"/>
            <a:ext cx="203200" cy="203200"/>
          </a:xfrm>
          <a:prstGeom prst="ellipse">
            <a:avLst/>
          </a:prstGeom>
          <a:solidFill>
            <a:srgbClr val="DCE1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E6CF785A-DF94-45EC-BDFA-FA770D37028E}"/>
              </a:ext>
            </a:extLst>
          </p:cNvPr>
          <p:cNvSpPr/>
          <p:nvPr/>
        </p:nvSpPr>
        <p:spPr>
          <a:xfrm>
            <a:off x="10121900" y="5613400"/>
            <a:ext cx="203200" cy="203200"/>
          </a:xfrm>
          <a:prstGeom prst="ellipse">
            <a:avLst/>
          </a:prstGeom>
          <a:solidFill>
            <a:srgbClr val="DCE1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D0C76AA0-E925-4981-934C-2AA471A10D8A}"/>
              </a:ext>
            </a:extLst>
          </p:cNvPr>
          <p:cNvSpPr/>
          <p:nvPr/>
        </p:nvSpPr>
        <p:spPr>
          <a:xfrm>
            <a:off x="10926233" y="4699000"/>
            <a:ext cx="203200" cy="203200"/>
          </a:xfrm>
          <a:prstGeom prst="ellipse">
            <a:avLst/>
          </a:prstGeom>
          <a:solidFill>
            <a:srgbClr val="DCE1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2" name="Elipse 61">
            <a:extLst>
              <a:ext uri="{FF2B5EF4-FFF2-40B4-BE49-F238E27FC236}">
                <a16:creationId xmlns:a16="http://schemas.microsoft.com/office/drawing/2014/main" id="{8500E6EB-269A-4140-B0E6-66C623DDF4C9}"/>
              </a:ext>
            </a:extLst>
          </p:cNvPr>
          <p:cNvSpPr/>
          <p:nvPr/>
        </p:nvSpPr>
        <p:spPr>
          <a:xfrm>
            <a:off x="10926233" y="5003800"/>
            <a:ext cx="203200" cy="203200"/>
          </a:xfrm>
          <a:prstGeom prst="ellipse">
            <a:avLst/>
          </a:prstGeom>
          <a:solidFill>
            <a:srgbClr val="DCE1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4ED5CA76-189B-4968-9FCC-838C5A6C7862}"/>
              </a:ext>
            </a:extLst>
          </p:cNvPr>
          <p:cNvSpPr/>
          <p:nvPr/>
        </p:nvSpPr>
        <p:spPr>
          <a:xfrm>
            <a:off x="10926233" y="5308600"/>
            <a:ext cx="203200" cy="203200"/>
          </a:xfrm>
          <a:prstGeom prst="ellipse">
            <a:avLst/>
          </a:prstGeom>
          <a:solidFill>
            <a:srgbClr val="DCE1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F548960D-7EEA-4C11-857C-2E7E4F65B8C7}"/>
              </a:ext>
            </a:extLst>
          </p:cNvPr>
          <p:cNvSpPr/>
          <p:nvPr/>
        </p:nvSpPr>
        <p:spPr>
          <a:xfrm>
            <a:off x="10926233" y="5613400"/>
            <a:ext cx="203200" cy="203200"/>
          </a:xfrm>
          <a:prstGeom prst="ellipse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18B8DBAF-A711-465D-9078-C6353F9A5337}"/>
              </a:ext>
            </a:extLst>
          </p:cNvPr>
          <p:cNvSpPr txBox="1"/>
          <p:nvPr/>
        </p:nvSpPr>
        <p:spPr>
          <a:xfrm>
            <a:off x="457200" y="6070600"/>
            <a:ext cx="11277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500" i="1">
                <a:solidFill>
                  <a:srgbClr val="262626"/>
                </a:solidFill>
              </a:rPr>
              <a:t>Cada coluna é uma combinação exclusiva: pontos coloridos = fontes marcadas. As barras acima mostram quantas observações caem exatamente naquela combinação — por isso somam 99, sem dupla contagem.</a:t>
            </a:r>
          </a:p>
        </p:txBody>
      </p:sp>
      <p:graphicFrame>
        <p:nvGraphicFramePr>
          <p:cNvPr id="900" name="UpSet Bars"/>
          <p:cNvGraphicFramePr/>
          <p:nvPr/>
        </p:nvGraphicFramePr>
        <p:xfrm>
          <a:off x="1270000" y="1701800"/>
          <a:ext cx="10160000" cy="279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66736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CC643-C964-96B5-0CDA-912AB8B04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Checklist: reportando para o stakeholder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0FEBC361-FA89-4FED-991E-3817EF904D57}"/>
              </a:ext>
            </a:extLst>
          </p:cNvPr>
          <p:cNvSpPr/>
          <p:nvPr/>
        </p:nvSpPr>
        <p:spPr>
          <a:xfrm>
            <a:off x="457200" y="1955800"/>
            <a:ext cx="508000" cy="5080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A8744A1-454C-4245-AFCA-04742EA557B8}"/>
              </a:ext>
            </a:extLst>
          </p:cNvPr>
          <p:cNvSpPr txBox="1"/>
          <p:nvPr/>
        </p:nvSpPr>
        <p:spPr>
          <a:xfrm>
            <a:off x="1117600" y="1905000"/>
            <a:ext cx="342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0E2841"/>
                </a:solidFill>
              </a:rPr>
              <a:t>Abra com a conclusão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2D6C95B-1BB7-45EA-8339-24EB5F8CDC8D}"/>
              </a:ext>
            </a:extLst>
          </p:cNvPr>
          <p:cNvSpPr txBox="1"/>
          <p:nvPr/>
        </p:nvSpPr>
        <p:spPr>
          <a:xfrm>
            <a:off x="4673600" y="1905000"/>
            <a:ext cx="70612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>
                <a:solidFill>
                  <a:srgbClr val="404040"/>
                </a:solidFill>
              </a:rPr>
              <a:t>“48 das 100 observações combinam 3 ou mais fontes.” A frase vem antes do gráfico.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1435B88-BC47-42B9-B616-F3E95791353D}"/>
              </a:ext>
            </a:extLst>
          </p:cNvPr>
          <p:cNvSpPr/>
          <p:nvPr/>
        </p:nvSpPr>
        <p:spPr>
          <a:xfrm>
            <a:off x="1117600" y="2578100"/>
            <a:ext cx="10617200" cy="12700"/>
          </a:xfrm>
          <a:prstGeom prst="rect">
            <a:avLst/>
          </a:prstGeom>
          <a:solidFill>
            <a:srgbClr val="D9D9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E8F7DA1-6D9B-4E3F-BE5D-CA24ED80D6F4}"/>
              </a:ext>
            </a:extLst>
          </p:cNvPr>
          <p:cNvSpPr/>
          <p:nvPr/>
        </p:nvSpPr>
        <p:spPr>
          <a:xfrm>
            <a:off x="457200" y="2743200"/>
            <a:ext cx="508000" cy="5080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D9EA42D-7F00-4150-8A1A-0BE96AE8CFB5}"/>
              </a:ext>
            </a:extLst>
          </p:cNvPr>
          <p:cNvSpPr txBox="1"/>
          <p:nvPr/>
        </p:nvSpPr>
        <p:spPr>
          <a:xfrm>
            <a:off x="1117600" y="2692400"/>
            <a:ext cx="342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0E2841"/>
                </a:solidFill>
              </a:rPr>
              <a:t>Sempre diga a base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25DEB51-8D14-4721-BD95-5F45C7DE042F}"/>
              </a:ext>
            </a:extLst>
          </p:cNvPr>
          <p:cNvSpPr txBox="1"/>
          <p:nvPr/>
        </p:nvSpPr>
        <p:spPr>
          <a:xfrm>
            <a:off x="4673600" y="2692400"/>
            <a:ext cx="70612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>
                <a:solidFill>
                  <a:srgbClr val="404040"/>
                </a:solidFill>
              </a:rPr>
              <a:t>n = 100. Os valores são contagens de incidência, não percentuais — diga isso em voz alta.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6D9657A-A968-4CEA-9E67-727C15CDDB59}"/>
              </a:ext>
            </a:extLst>
          </p:cNvPr>
          <p:cNvSpPr/>
          <p:nvPr/>
        </p:nvSpPr>
        <p:spPr>
          <a:xfrm>
            <a:off x="1117600" y="3365500"/>
            <a:ext cx="10617200" cy="12700"/>
          </a:xfrm>
          <a:prstGeom prst="rect">
            <a:avLst/>
          </a:prstGeom>
          <a:solidFill>
            <a:srgbClr val="D9D9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8B59778-62B4-4698-9E97-FEA3AE19BB8F}"/>
              </a:ext>
            </a:extLst>
          </p:cNvPr>
          <p:cNvSpPr/>
          <p:nvPr/>
        </p:nvSpPr>
        <p:spPr>
          <a:xfrm>
            <a:off x="457200" y="3530600"/>
            <a:ext cx="508000" cy="5080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EBC5D24-619C-48EE-A9D7-DB1B23C1FD42}"/>
              </a:ext>
            </a:extLst>
          </p:cNvPr>
          <p:cNvSpPr txBox="1"/>
          <p:nvPr/>
        </p:nvSpPr>
        <p:spPr>
          <a:xfrm>
            <a:off x="1117600" y="3479800"/>
            <a:ext cx="342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0E2841"/>
                </a:solidFill>
              </a:rPr>
              <a:t>Um gráfico, uma pergunta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3F23FB7-9F81-4D54-AD84-E1E29D94F8BD}"/>
              </a:ext>
            </a:extLst>
          </p:cNvPr>
          <p:cNvSpPr txBox="1"/>
          <p:nvPr/>
        </p:nvSpPr>
        <p:spPr>
          <a:xfrm>
            <a:off x="4673600" y="3479800"/>
            <a:ext cx="70612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>
                <a:solidFill>
                  <a:srgbClr val="404040"/>
                </a:solidFill>
              </a:rPr>
              <a:t>Barras para “quais fontes?”. Combinações para “quem se sobrepõe?”.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8631B06-A73D-4EB8-8E67-594B2E40BAE8}"/>
              </a:ext>
            </a:extLst>
          </p:cNvPr>
          <p:cNvSpPr/>
          <p:nvPr/>
        </p:nvSpPr>
        <p:spPr>
          <a:xfrm>
            <a:off x="1117600" y="4152900"/>
            <a:ext cx="10617200" cy="12700"/>
          </a:xfrm>
          <a:prstGeom prst="rect">
            <a:avLst/>
          </a:prstGeom>
          <a:solidFill>
            <a:srgbClr val="D9D9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C8068508-5856-4308-8261-81002E8801ED}"/>
              </a:ext>
            </a:extLst>
          </p:cNvPr>
          <p:cNvSpPr/>
          <p:nvPr/>
        </p:nvSpPr>
        <p:spPr>
          <a:xfrm>
            <a:off x="457200" y="4318000"/>
            <a:ext cx="508000" cy="5080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D268091-CB45-44AE-9C5C-C450ABEE6735}"/>
              </a:ext>
            </a:extLst>
          </p:cNvPr>
          <p:cNvSpPr txBox="1"/>
          <p:nvPr/>
        </p:nvSpPr>
        <p:spPr>
          <a:xfrm>
            <a:off x="1117600" y="4267200"/>
            <a:ext cx="342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0E2841"/>
                </a:solidFill>
              </a:rPr>
              <a:t>Ordene por valor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C575292-611E-4516-A7CC-FA207F3E1D57}"/>
              </a:ext>
            </a:extLst>
          </p:cNvPr>
          <p:cNvSpPr txBox="1"/>
          <p:nvPr/>
        </p:nvSpPr>
        <p:spPr>
          <a:xfrm>
            <a:off x="4673600" y="4267200"/>
            <a:ext cx="70612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>
                <a:solidFill>
                  <a:srgbClr val="404040"/>
                </a:solidFill>
              </a:rPr>
              <a:t>Nunca em ordem alfabética. O olho compara tamanho, não nome.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AF55475-4619-44E9-892C-119AFF7D6661}"/>
              </a:ext>
            </a:extLst>
          </p:cNvPr>
          <p:cNvSpPr/>
          <p:nvPr/>
        </p:nvSpPr>
        <p:spPr>
          <a:xfrm>
            <a:off x="1117600" y="4940300"/>
            <a:ext cx="10617200" cy="12700"/>
          </a:xfrm>
          <a:prstGeom prst="rect">
            <a:avLst/>
          </a:prstGeom>
          <a:solidFill>
            <a:srgbClr val="D9D9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F9D5DB5F-0280-4A06-8385-BB9C5BB9D5E6}"/>
              </a:ext>
            </a:extLst>
          </p:cNvPr>
          <p:cNvSpPr/>
          <p:nvPr/>
        </p:nvSpPr>
        <p:spPr>
          <a:xfrm>
            <a:off x="457200" y="5105400"/>
            <a:ext cx="508000" cy="5080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96A0479-E157-4704-9587-82BE34F738D4}"/>
              </a:ext>
            </a:extLst>
          </p:cNvPr>
          <p:cNvSpPr txBox="1"/>
          <p:nvPr/>
        </p:nvSpPr>
        <p:spPr>
          <a:xfrm>
            <a:off x="1117600" y="5054600"/>
            <a:ext cx="342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0E2841"/>
                </a:solidFill>
              </a:rPr>
              <a:t>Sinalize o que é artefato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3612D37-9A2A-4B42-8A97-2D7C32F5E94A}"/>
              </a:ext>
            </a:extLst>
          </p:cNvPr>
          <p:cNvSpPr txBox="1"/>
          <p:nvPr/>
        </p:nvSpPr>
        <p:spPr>
          <a:xfrm>
            <a:off x="4673600" y="5054600"/>
            <a:ext cx="70612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>
                <a:solidFill>
                  <a:srgbClr val="404040"/>
                </a:solidFill>
              </a:rPr>
              <a:t>Ex.: C 100% contido em A vem da forma como o dado foi gerado.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EE6FCAF5-7EF3-4986-9A00-535B241E1747}"/>
              </a:ext>
            </a:extLst>
          </p:cNvPr>
          <p:cNvSpPr/>
          <p:nvPr/>
        </p:nvSpPr>
        <p:spPr>
          <a:xfrm>
            <a:off x="1117600" y="5727700"/>
            <a:ext cx="10617200" cy="12700"/>
          </a:xfrm>
          <a:prstGeom prst="rect">
            <a:avLst/>
          </a:prstGeom>
          <a:solidFill>
            <a:srgbClr val="D9D9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450D468E-50ED-4B8E-BB6E-A88A30C85B2D}"/>
              </a:ext>
            </a:extLst>
          </p:cNvPr>
          <p:cNvSpPr/>
          <p:nvPr/>
        </p:nvSpPr>
        <p:spPr>
          <a:xfrm>
            <a:off x="457200" y="5892800"/>
            <a:ext cx="508000" cy="508000"/>
          </a:xfrm>
          <a:prstGeom prst="ellipse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7DA568D-E698-416D-B3FA-ED55BF7650DF}"/>
              </a:ext>
            </a:extLst>
          </p:cNvPr>
          <p:cNvSpPr txBox="1"/>
          <p:nvPr/>
        </p:nvSpPr>
        <p:spPr>
          <a:xfrm>
            <a:off x="1117600" y="5842000"/>
            <a:ext cx="3429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b="1">
                <a:solidFill>
                  <a:srgbClr val="0E2841"/>
                </a:solidFill>
              </a:rPr>
              <a:t>Deixe o dado bruto disponível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7FD5AC2-2A58-40C4-AE5E-6FF05DB4118A}"/>
              </a:ext>
            </a:extLst>
          </p:cNvPr>
          <p:cNvSpPr txBox="1"/>
          <p:nvPr/>
        </p:nvSpPr>
        <p:spPr>
          <a:xfrm>
            <a:off x="4673600" y="5842000"/>
            <a:ext cx="70612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600">
                <a:solidFill>
                  <a:srgbClr val="404040"/>
                </a:solidFill>
              </a:rPr>
              <a:t>A planilha por respondente é o anexo que sustenta qualquer pergunta.</a:t>
            </a:r>
          </a:p>
        </p:txBody>
      </p:sp>
    </p:spTree>
    <p:extLst>
      <p:ext uri="{BB962C8B-B14F-4D97-AF65-F5344CB8AC3E}">
        <p14:creationId xmlns:p14="http://schemas.microsoft.com/office/powerpoint/2010/main" val="9714530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6BAD724-35E3-4610-9EE7-52AB93FA2FB5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ee5afd40-a58d-4846-ad21-49f86f61b7f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728</Words>
  <Application>Microsoft Office PowerPoint</Application>
  <PresentationFormat>Widescreen</PresentationFormat>
  <Paragraphs>118</Paragraphs>
  <Slides>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do Office</vt:lpstr>
      <vt:lpstr>Dados de sobreposição: como visualizar e reportar</vt:lpstr>
      <vt:lpstr>Os dados em 1 minuto</vt:lpstr>
      <vt:lpstr>Passo 1: o formato dos dados decide tudo</vt:lpstr>
      <vt:lpstr>Passo 2: comece pelo gráfico mais simples</vt:lpstr>
      <vt:lpstr>Passo 3: mostre as combinações, não um Venn de 4 círculos</vt:lpstr>
      <vt:lpstr>Passo 4: a pergunta que o stakeholder realmente faz</vt:lpstr>
      <vt:lpstr>UpSet plot: as combinações exclusivas</vt:lpstr>
      <vt:lpstr>Checklist: reportando para o stakeholder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2026-08-08T15:03:35Z</dcterms:created>
  <dcterms:modified xsi:type="dcterms:W3CDTF">2026-08-09T01:14:46Z</dcterms:modified>
</cp:coreProperties>
</file>