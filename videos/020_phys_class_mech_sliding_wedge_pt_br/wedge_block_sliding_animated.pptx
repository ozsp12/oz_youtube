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4"/>
  </p:notesMasterIdLst>
  <p:sldIdLst>
    <p:sldId id="261" r:id="rId2"/>
    <p:sldId id="262" r:id="rId3"/>
    <p:sldId id="259" r:id="rId4"/>
    <p:sldId id="266" r:id="rId5"/>
    <p:sldId id="267" r:id="rId6"/>
    <p:sldId id="268" r:id="rId7"/>
    <p:sldId id="258" r:id="rId8"/>
    <p:sldId id="269" r:id="rId9"/>
    <p:sldId id="265" r:id="rId10"/>
    <p:sldId id="270" r:id="rId11"/>
    <p:sldId id="264" r:id="rId12"/>
    <p:sldId id="263" r:id="rId13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modSld">
      <pc:chgData name="Osvaldo Luiz Santos Pereira" userId="c308351cf5a860c7" providerId="LiveId" clId="{3EF59E56-4CCE-4FE5-AF5F-969E092DDC67}" dt="2026-04-21T01:09:49.304" v="0" actId="14100"/>
      <pc:docMkLst>
        <pc:docMk/>
      </pc:docMkLst>
      <pc:sldChg chg="modSp mod">
        <pc:chgData name="Osvaldo Luiz Santos Pereira" userId="c308351cf5a860c7" providerId="LiveId" clId="{3EF59E56-4CCE-4FE5-AF5F-969E092DDC67}" dt="2026-04-21T01:09:49.304" v="0" actId="14100"/>
        <pc:sldMkLst>
          <pc:docMk/>
          <pc:sldMk cId="2247708559" sldId="264"/>
        </pc:sldMkLst>
        <pc:spChg chg="mod">
          <ac:chgData name="Osvaldo Luiz Santos Pereira" userId="c308351cf5a860c7" providerId="LiveId" clId="{3EF59E56-4CCE-4FE5-AF5F-969E092DDC67}" dt="2026-04-21T01:09:49.304" v="0" actId="14100"/>
          <ac:spMkLst>
            <pc:docMk/>
            <pc:sldMk cId="2247708559" sldId="264"/>
            <ac:spMk id="5" creationId="{87E7C7CF-2955-4F0A-3231-E01CDD7495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848B-6728-34F9-8CAE-E9329C4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4697-91E1-FEB7-A649-F2ABB37E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A6ACD-3663-5C33-17E1-A14FC876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82A5-F85D-F60C-6B21-53B78E87F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0202-5553-F5CE-1D11-256419D2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D2E15-D566-7192-397B-AA528A6B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EFAD1-56AA-C6FB-A9F5-AF0A528D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94A17-FF8C-64E9-9AC5-D34558C5D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FF38-8197-432B-BC13-B6937BC7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A15DD-21F4-6ADD-1E28-355C6627B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DE343-6412-2E03-4848-1614B726E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05E0D-2189-76ED-0132-C85285E98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96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9347-386E-97A2-FEDA-B7257893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058A3-A74E-F3F5-99CB-FB8FB9548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F02B3-3726-F53E-6A88-7A5A6F8FA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9036C-40C4-80E9-9F37-934BF6672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76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27E6-798E-2B26-2C0A-7D57943D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4ECDF-83F4-4C4C-4011-BEB106631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2C66B-50C5-C8ED-FEE8-454089C4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4D478-1031-2863-CE2A-9FF2C9E49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51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42FA-E3A5-4B7D-54A2-195F5E21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1AE50-278F-7FDE-F60E-A26B3A63C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09699-754F-7F58-1762-EDF6429D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19AC7-1266-2661-C52B-D6B7F1CFC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9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EE43-1D3B-1E4F-93C8-A557B5E6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631F2-DEEF-E6CF-5EEB-6698A216E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6103-DC98-E28E-B32F-3563AF483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0EE1B-3B9D-E6D4-8F58-2F534D322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71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A3D3-9812-CF8F-CC5A-0A867D1E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7AF30-B35F-B790-8424-CBE82D289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CB97-23DC-A665-036F-6C8C23C0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A6D85-7231-D3CB-9750-56C3A6252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89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2A0BA-378D-298D-BDBB-F3A41D17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D773F-F0C7-1E24-3C39-ABDE2CCCD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99FFF-128F-8E37-2AF0-42FDA639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9B984-246D-CE86-49F1-7ED368ECD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95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A2FD-8F1C-6A3B-647D-8D020365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427F9-5ABF-9E8B-B3A2-7AC0BC74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8644E-C4F3-B4D6-3C21-9B9D64FB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E458B-1A97-C0DE-6332-5F1B5D39C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08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AF86-071B-66FA-CBCD-DCD2BD0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5DDDE-1BAE-336F-6273-75030ADD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D0A25-3050-9650-357B-C4B558C09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11C96-6335-9882-8265-73185128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86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77FC-2C1A-8A83-75EF-AE8648C7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6394A-677B-EF56-0628-06DB0A480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D6DF0-0368-CE5B-3D2E-9F322E79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C8244-441E-CD4F-E07B-8F8A7E121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5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C7F6-7AF9-3B05-5431-20DCECD0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E42CC81-F697-0ECD-B351-89A0A0A2BB9F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07216537-4760-74A7-6563-0AEAB2E28534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B3E63B7-85D8-198E-8AC2-FACA99E87CF5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C7FC28-1190-494E-4763-E7D858FB69F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Bloco em um plano inclinado deslizante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F59FEEE-BE39-C29B-3C78-7C6C3FD012B8}"/>
              </a:ext>
            </a:extLst>
          </p:cNvPr>
          <p:cNvGrpSpPr/>
          <p:nvPr/>
        </p:nvGrpSpPr>
        <p:grpSpPr>
          <a:xfrm>
            <a:off x="1675529" y="905166"/>
            <a:ext cx="7532266" cy="1166918"/>
            <a:chOff x="1675529" y="905166"/>
            <a:chExt cx="7532266" cy="1166918"/>
          </a:xfrm>
        </p:grpSpPr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27AA600-E9B0-CF9E-F6D5-3F5425EDCD87}"/>
                </a:ext>
              </a:extLst>
            </p:cNvPr>
            <p:cNvSpPr txBox="1"/>
            <p:nvPr/>
          </p:nvSpPr>
          <p:spPr>
            <a:xfrm>
              <a:off x="1675529" y="1610419"/>
              <a:ext cx="282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C82578A-7F3B-96D9-3BC7-957EF437DD1F}"/>
                </a:ext>
              </a:extLst>
            </p:cNvPr>
            <p:cNvSpPr txBox="1"/>
            <p:nvPr/>
          </p:nvSpPr>
          <p:spPr>
            <a:xfrm>
              <a:off x="4635795" y="90516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chemeClr val="bg1"/>
                  </a:solidFill>
                </a:rPr>
                <a:t>Bloco tem massa m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0DCB32E-EED5-F691-0BD1-959CF353E1CD}"/>
              </a:ext>
            </a:extLst>
          </p:cNvPr>
          <p:cNvGrpSpPr/>
          <p:nvPr/>
        </p:nvGrpSpPr>
        <p:grpSpPr>
          <a:xfrm>
            <a:off x="1746733" y="1486287"/>
            <a:ext cx="7461062" cy="1688316"/>
            <a:chOff x="1746733" y="1486287"/>
            <a:chExt cx="7461062" cy="1688316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E4D3DAD7-B4FD-06D0-A6EA-9B99057F0769}"/>
                </a:ext>
              </a:extLst>
            </p:cNvPr>
            <p:cNvSpPr txBox="1"/>
            <p:nvPr/>
          </p:nvSpPr>
          <p:spPr>
            <a:xfrm>
              <a:off x="1746733" y="2855935"/>
              <a:ext cx="171248" cy="318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31A052A-EB4A-F8FB-611F-8D64E76DEC9D}"/>
                </a:ext>
              </a:extLst>
            </p:cNvPr>
            <p:cNvSpPr txBox="1"/>
            <p:nvPr/>
          </p:nvSpPr>
          <p:spPr>
            <a:xfrm>
              <a:off x="4635795" y="1486287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</a:rPr>
                <a:t>Plano inclinado tem massa M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4C4C016-7939-4F1F-19A3-A50AAB2661B5}"/>
              </a:ext>
            </a:extLst>
          </p:cNvPr>
          <p:cNvGrpSpPr/>
          <p:nvPr/>
        </p:nvGrpSpPr>
        <p:grpSpPr>
          <a:xfrm>
            <a:off x="3177840" y="2067408"/>
            <a:ext cx="6029955" cy="2018543"/>
            <a:chOff x="3177840" y="2067408"/>
            <a:chExt cx="6029955" cy="2018543"/>
          </a:xfrm>
        </p:grpSpPr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6EBA7A9-8535-3BCE-3503-19C881EF56AC}"/>
                </a:ext>
              </a:extLst>
            </p:cNvPr>
            <p:cNvSpPr txBox="1"/>
            <p:nvPr/>
          </p:nvSpPr>
          <p:spPr>
            <a:xfrm>
              <a:off x="3177840" y="3624286"/>
              <a:ext cx="236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1BAEB5B-7E07-BE80-8D6F-9CD922A49E18}"/>
                    </a:ext>
                  </a:extLst>
                </p:cNvPr>
                <p:cNvSpPr txBox="1"/>
                <p:nvPr/>
              </p:nvSpPr>
              <p:spPr>
                <a:xfrm>
                  <a:off x="4635795" y="2067408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Plano inclinado tem ângulo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1BAEB5B-7E07-BE80-8D6F-9CD922A49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2067408"/>
                  <a:ext cx="45720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00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EF12F394-0A65-74D1-6988-EF830F6BE001}"/>
              </a:ext>
            </a:extLst>
          </p:cNvPr>
          <p:cNvGrpSpPr/>
          <p:nvPr/>
        </p:nvGrpSpPr>
        <p:grpSpPr>
          <a:xfrm>
            <a:off x="1023418" y="1083297"/>
            <a:ext cx="8283615" cy="1934564"/>
            <a:chOff x="1023418" y="1083297"/>
            <a:chExt cx="8283615" cy="1934564"/>
          </a:xfrm>
        </p:grpSpPr>
        <p:cxnSp>
          <p:nvCxnSpPr>
            <p:cNvPr id="13" name="Conector: Curvo 12">
              <a:extLst>
                <a:ext uri="{FF2B5EF4-FFF2-40B4-BE49-F238E27FC236}">
                  <a16:creationId xmlns:a16="http://schemas.microsoft.com/office/drawing/2014/main" id="{F2680515-4859-6FB9-04E1-7A904E213AE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36089" y="1448618"/>
              <a:ext cx="547802" cy="282262"/>
            </a:xfrm>
            <a:prstGeom prst="curvedConnector3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17817E68-2BDD-A0C7-9DB9-CDDC9ABB290E}"/>
                    </a:ext>
                  </a:extLst>
                </p:cNvPr>
                <p:cNvSpPr txBox="1"/>
                <p:nvPr/>
              </p:nvSpPr>
              <p:spPr>
                <a:xfrm>
                  <a:off x="1023418" y="1083297"/>
                  <a:ext cx="490881" cy="1912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17817E68-2BDD-A0C7-9DB9-CDDC9ABB2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418" y="1083297"/>
                  <a:ext cx="490881" cy="191201"/>
                </a:xfrm>
                <a:prstGeom prst="rect">
                  <a:avLst/>
                </a:prstGeom>
                <a:blipFill>
                  <a:blip r:embed="rId4"/>
                  <a:stretch>
                    <a:fillRect l="-17500" r="-50000" b="-7741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962C2E50-B1E7-6CBF-85C2-CC3E512E4CA5}"/>
                    </a:ext>
                  </a:extLst>
                </p:cNvPr>
                <p:cNvSpPr txBox="1"/>
                <p:nvPr/>
              </p:nvSpPr>
              <p:spPr>
                <a:xfrm>
                  <a:off x="4635795" y="2648529"/>
                  <a:ext cx="46712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Sem atrito entre o bloco e o plano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=0)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962C2E50-B1E7-6CBF-85C2-CC3E512E4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2648529"/>
                  <a:ext cx="467123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82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BAED5C6-2132-F02B-26DA-D0A6DC7F8938}"/>
              </a:ext>
            </a:extLst>
          </p:cNvPr>
          <p:cNvGrpSpPr/>
          <p:nvPr/>
        </p:nvGrpSpPr>
        <p:grpSpPr>
          <a:xfrm>
            <a:off x="369308" y="3028458"/>
            <a:ext cx="8838487" cy="979575"/>
            <a:chOff x="369308" y="3028458"/>
            <a:chExt cx="8838487" cy="979575"/>
          </a:xfrm>
        </p:grpSpPr>
        <p:cxnSp>
          <p:nvCxnSpPr>
            <p:cNvPr id="17" name="Conector: Curvo 16">
              <a:extLst>
                <a:ext uri="{FF2B5EF4-FFF2-40B4-BE49-F238E27FC236}">
                  <a16:creationId xmlns:a16="http://schemas.microsoft.com/office/drawing/2014/main" id="{1C765E2C-8901-6F1E-1680-85EC9D105DC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16584" y="3361760"/>
              <a:ext cx="647287" cy="646273"/>
            </a:xfrm>
            <a:prstGeom prst="curvedConnector2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8E659A0D-63EA-BD64-5354-8B019DD13F0F}"/>
                    </a:ext>
                  </a:extLst>
                </p:cNvPr>
                <p:cNvSpPr txBox="1"/>
                <p:nvPr/>
              </p:nvSpPr>
              <p:spPr>
                <a:xfrm>
                  <a:off x="369308" y="3028458"/>
                  <a:ext cx="494555" cy="1912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8E659A0D-63EA-BD64-5354-8B019DD13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308" y="3028458"/>
                  <a:ext cx="494555" cy="191201"/>
                </a:xfrm>
                <a:prstGeom prst="rect">
                  <a:avLst/>
                </a:prstGeom>
                <a:blipFill>
                  <a:blip r:embed="rId6"/>
                  <a:stretch>
                    <a:fillRect l="-17284" r="-49383" b="-7741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8BE4EC9-E1E9-E369-FAE7-B83832A62FF0}"/>
                    </a:ext>
                  </a:extLst>
                </p:cNvPr>
                <p:cNvSpPr txBox="1"/>
                <p:nvPr/>
              </p:nvSpPr>
              <p:spPr>
                <a:xfrm>
                  <a:off x="4635795" y="3229651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Sem atrito entre o plano e o chão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=0)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8BE4EC9-E1E9-E369-FAE7-B83832A62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3229651"/>
                  <a:ext cx="457200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00" t="-10000" b="-2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096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C416-DC4A-E45F-AFD8-E2DED147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F39355-1C1A-7F43-1E8F-6C38576943AE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Bloco de massa m em um plano inclinado deslizante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26B2BB-02F9-8CB9-5A21-012801632B5A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Triângulo Retângulo 9">
            <a:extLst>
              <a:ext uri="{FF2B5EF4-FFF2-40B4-BE49-F238E27FC236}">
                <a16:creationId xmlns:a16="http://schemas.microsoft.com/office/drawing/2014/main" id="{C8F5CF70-01B2-30D7-E960-9F3CC1EE2BBF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A2DF97C-8115-FFCA-E3A4-BB9CE8C9A591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3130811-2403-075F-F1D2-47B63978480A}"/>
              </a:ext>
            </a:extLst>
          </p:cNvPr>
          <p:cNvGrpSpPr/>
          <p:nvPr/>
        </p:nvGrpSpPr>
        <p:grpSpPr>
          <a:xfrm>
            <a:off x="1917981" y="1085672"/>
            <a:ext cx="7126782" cy="1551796"/>
            <a:chOff x="1917981" y="1085672"/>
            <a:chExt cx="7126782" cy="1551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15E2C435-6B52-0879-403B-B85BCB3C8C71}"/>
                    </a:ext>
                  </a:extLst>
                </p:cNvPr>
                <p:cNvSpPr txBox="1"/>
                <p:nvPr/>
              </p:nvSpPr>
              <p:spPr>
                <a:xfrm>
                  <a:off x="4627007" y="1085672"/>
                  <a:ext cx="441775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1.  Qual a aceleração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bloco em relação ao plano inclinado? </a:t>
                  </a:r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15E2C435-6B52-0879-403B-B85BCB3C8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1085672"/>
                  <a:ext cx="4417756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690" t="-3125"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295832BD-24DE-5835-767F-E6B8A980FC1E}"/>
                    </a:ext>
                  </a:extLst>
                </p:cNvPr>
                <p:cNvSpPr txBox="1"/>
                <p:nvPr/>
              </p:nvSpPr>
              <p:spPr>
                <a:xfrm>
                  <a:off x="2312875" y="2268136"/>
                  <a:ext cx="4502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295832BD-24DE-5835-767F-E6B8A980F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875" y="2268136"/>
                  <a:ext cx="45023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257C818-E738-3D5A-A7E8-42873FB5BBF8}"/>
                </a:ext>
              </a:extLst>
            </p:cNvPr>
            <p:cNvCxnSpPr>
              <a:cxnSpLocks/>
            </p:cNvCxnSpPr>
            <p:nvPr/>
          </p:nvCxnSpPr>
          <p:spPr>
            <a:xfrm>
              <a:off x="1917981" y="2025762"/>
              <a:ext cx="404417" cy="42704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793A29A3-24B3-5FD1-7DB3-237CA2AA7124}"/>
              </a:ext>
            </a:extLst>
          </p:cNvPr>
          <p:cNvGrpSpPr/>
          <p:nvPr/>
        </p:nvGrpSpPr>
        <p:grpSpPr>
          <a:xfrm>
            <a:off x="1367340" y="1628943"/>
            <a:ext cx="7677423" cy="1036954"/>
            <a:chOff x="1367340" y="1628943"/>
            <a:chExt cx="7677423" cy="10369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313B7BEF-B15B-B4E9-1D71-1A45CB7B5946}"/>
                    </a:ext>
                  </a:extLst>
                </p:cNvPr>
                <p:cNvSpPr txBox="1"/>
                <p:nvPr/>
              </p:nvSpPr>
              <p:spPr>
                <a:xfrm>
                  <a:off x="4627007" y="2044060"/>
                  <a:ext cx="4417756" cy="6218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2.  Qual a aceleração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pt-BR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bloco em relação ao solo? </a:t>
                  </a: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313B7BEF-B15B-B4E9-1D71-1A45CB7B5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2044060"/>
                  <a:ext cx="4417756" cy="621837"/>
                </a:xfrm>
                <a:prstGeom prst="rect">
                  <a:avLst/>
                </a:prstGeom>
                <a:blipFill>
                  <a:blip r:embed="rId5"/>
                  <a:stretch>
                    <a:fillRect l="-690" t="-3922" b="-1176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108C732F-0A29-DBF0-D06D-3538C15B92A8}"/>
                </a:ext>
              </a:extLst>
            </p:cNvPr>
            <p:cNvCxnSpPr>
              <a:cxnSpLocks/>
            </p:cNvCxnSpPr>
            <p:nvPr/>
          </p:nvCxnSpPr>
          <p:spPr>
            <a:xfrm>
              <a:off x="1784774" y="1856923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726FAC3B-6D55-F4D0-BE19-51E3293E489C}"/>
                    </a:ext>
                  </a:extLst>
                </p:cNvPr>
                <p:cNvSpPr txBox="1"/>
                <p:nvPr/>
              </p:nvSpPr>
              <p:spPr>
                <a:xfrm>
                  <a:off x="1367340" y="2252922"/>
                  <a:ext cx="490882" cy="3912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726FAC3B-6D55-F4D0-BE19-51E3293E4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340" y="2252922"/>
                  <a:ext cx="490882" cy="391261"/>
                </a:xfrm>
                <a:prstGeom prst="rect">
                  <a:avLst/>
                </a:prstGeom>
                <a:blipFill>
                  <a:blip r:embed="rId6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17C0A47B-6632-D54C-7A85-23D766D04ABB}"/>
                    </a:ext>
                  </a:extLst>
                </p:cNvPr>
                <p:cNvSpPr txBox="1"/>
                <p:nvPr/>
              </p:nvSpPr>
              <p:spPr>
                <a:xfrm>
                  <a:off x="2359016" y="1628943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17C0A47B-6632-D54C-7A85-23D766D04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9016" y="1628943"/>
                  <a:ext cx="49088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0C3D6344-6AF3-F268-5D06-FDF5C35A8F8C}"/>
                </a:ext>
              </a:extLst>
            </p:cNvPr>
            <p:cNvCxnSpPr>
              <a:cxnSpLocks/>
            </p:cNvCxnSpPr>
            <p:nvPr/>
          </p:nvCxnSpPr>
          <p:spPr>
            <a:xfrm>
              <a:off x="1796731" y="1842246"/>
              <a:ext cx="3658" cy="724872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F1B431E1-E069-4F2F-C9AF-A532CE4572F2}"/>
              </a:ext>
            </a:extLst>
          </p:cNvPr>
          <p:cNvGrpSpPr/>
          <p:nvPr/>
        </p:nvGrpSpPr>
        <p:grpSpPr>
          <a:xfrm>
            <a:off x="271068" y="3039511"/>
            <a:ext cx="8807799" cy="907697"/>
            <a:chOff x="271068" y="3039511"/>
            <a:chExt cx="8807799" cy="90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90C847BE-24D3-0DC6-8E93-2CACBE850CCE}"/>
                    </a:ext>
                  </a:extLst>
                </p:cNvPr>
                <p:cNvSpPr txBox="1"/>
                <p:nvPr/>
              </p:nvSpPr>
              <p:spPr>
                <a:xfrm>
                  <a:off x="4627007" y="3039511"/>
                  <a:ext cx="445186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3.  Qual a componente horizontal da aceleração </a:t>
                  </a:r>
                  <a14:m>
                    <m:oMath xmlns:m="http://schemas.openxmlformats.org/officeDocument/2006/math">
                      <m:r>
                        <a:rPr lang="pt-B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plano inclinado em relação ao solo?</a:t>
                  </a:r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90C847BE-24D3-0DC6-8E93-2CACBE850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3039511"/>
                  <a:ext cx="4451860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685" t="-3125"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216601F6-A50B-DA22-274C-38D4B67D1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186" y="3601643"/>
              <a:ext cx="767685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345E9FD1-EF40-10B1-1658-975759962DA9}"/>
                    </a:ext>
                  </a:extLst>
                </p:cNvPr>
                <p:cNvSpPr txBox="1"/>
                <p:nvPr/>
              </p:nvSpPr>
              <p:spPr>
                <a:xfrm>
                  <a:off x="271068" y="3577876"/>
                  <a:ext cx="4502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345E9FD1-EF40-10B1-1658-975759962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68" y="3577876"/>
                  <a:ext cx="45023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628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ECDB-3643-5614-6A59-7C6520A9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42644E8-32FB-2BF4-09B4-380D7E5BD4E6}"/>
              </a:ext>
            </a:extLst>
          </p:cNvPr>
          <p:cNvGrpSpPr/>
          <p:nvPr/>
        </p:nvGrpSpPr>
        <p:grpSpPr>
          <a:xfrm>
            <a:off x="5256060" y="2329219"/>
            <a:ext cx="455182" cy="475401"/>
            <a:chOff x="3320776" y="1130215"/>
            <a:chExt cx="455182" cy="4754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A71DFDB-5857-717F-3FCD-3C084675F92C}"/>
                </a:ext>
              </a:extLst>
            </p:cNvPr>
            <p:cNvSpPr/>
            <p:nvPr/>
          </p:nvSpPr>
          <p:spPr>
            <a:xfrm rot="2694760">
              <a:off x="3320776" y="1130215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17AD3BC-11BC-164E-2E79-8492D6F4ADCD}"/>
                </a:ext>
              </a:extLst>
            </p:cNvPr>
            <p:cNvSpPr txBox="1"/>
            <p:nvPr/>
          </p:nvSpPr>
          <p:spPr>
            <a:xfrm>
              <a:off x="3456372" y="1143951"/>
              <a:ext cx="201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4CF1635-3F52-6883-BDBE-40F17234F04E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1054A52-35E1-E02A-A925-122FC665D552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6279B06-4201-B1FA-9321-30EA2C2A107C}"/>
                </a:ext>
              </a:extLst>
            </p:cNvPr>
            <p:cNvSpPr txBox="1"/>
            <p:nvPr/>
          </p:nvSpPr>
          <p:spPr>
            <a:xfrm>
              <a:off x="2889846" y="2784208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E62364C-924B-C218-4486-F6D47E94BDD2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6C0AB8F-2622-5732-E1C3-226B5EDC313F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1537114E-BA66-F1B5-B818-1CA321297BBA}"/>
              </a:ext>
            </a:extLst>
          </p:cNvPr>
          <p:cNvGrpSpPr/>
          <p:nvPr/>
        </p:nvGrpSpPr>
        <p:grpSpPr>
          <a:xfrm>
            <a:off x="390433" y="4147529"/>
            <a:ext cx="5406123" cy="887807"/>
            <a:chOff x="390433" y="4147529"/>
            <a:chExt cx="5406123" cy="887807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1A2E484D-B04B-2339-192E-497E16413183}"/>
                </a:ext>
              </a:extLst>
            </p:cNvPr>
            <p:cNvGrpSpPr/>
            <p:nvPr/>
          </p:nvGrpSpPr>
          <p:grpSpPr>
            <a:xfrm>
              <a:off x="519604" y="4147529"/>
              <a:ext cx="448949" cy="887807"/>
              <a:chOff x="589467" y="2350307"/>
              <a:chExt cx="504722" cy="998100"/>
            </a:xfrm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3D5A2CD5-429A-2AC3-3291-2F769BA75147}"/>
                  </a:ext>
                </a:extLst>
              </p:cNvPr>
              <p:cNvSpPr/>
              <p:nvPr/>
            </p:nvSpPr>
            <p:spPr>
              <a:xfrm>
                <a:off x="689429" y="2350307"/>
                <a:ext cx="252361" cy="25236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5" name="Conector reto 14">
                <a:extLst>
                  <a:ext uri="{FF2B5EF4-FFF2-40B4-BE49-F238E27FC236}">
                    <a16:creationId xmlns:a16="http://schemas.microsoft.com/office/drawing/2014/main" id="{9E4639BE-EF4C-7EA8-C13B-078731278805}"/>
                  </a:ext>
                </a:extLst>
              </p:cNvPr>
              <p:cNvCxnSpPr>
                <a:cxnSpLocks/>
                <a:stCxn id="11" idx="4"/>
              </p:cNvCxnSpPr>
              <p:nvPr/>
            </p:nvCxnSpPr>
            <p:spPr>
              <a:xfrm>
                <a:off x="815610" y="2602668"/>
                <a:ext cx="0" cy="41979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id="{0C59EDF0-11C0-191B-64AF-06681D8C6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10" y="3022467"/>
                <a:ext cx="25236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id="{79126243-80E8-C268-8047-C689EE2377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9429" y="3022467"/>
                <a:ext cx="12618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>
                <a:extLst>
                  <a:ext uri="{FF2B5EF4-FFF2-40B4-BE49-F238E27FC236}">
                    <a16:creationId xmlns:a16="http://schemas.microsoft.com/office/drawing/2014/main" id="{7CC3B451-B531-599B-17DE-A2428CC88C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467" y="2676247"/>
                <a:ext cx="226142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C992668B-E4FF-E192-75BC-857B31FC9E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3070" y="2676247"/>
                <a:ext cx="271119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BE95758F-BD00-1750-E245-B741F4702D21}"/>
                </a:ext>
              </a:extLst>
            </p:cNvPr>
            <p:cNvCxnSpPr>
              <a:cxnSpLocks/>
            </p:cNvCxnSpPr>
            <p:nvPr/>
          </p:nvCxnSpPr>
          <p:spPr>
            <a:xfrm>
              <a:off x="390433" y="5035336"/>
              <a:ext cx="1941072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8FC2BED2-0C69-9164-AE8B-729A7FC5C6C1}"/>
                    </a:ext>
                  </a:extLst>
                </p:cNvPr>
                <p:cNvSpPr txBox="1"/>
                <p:nvPr/>
              </p:nvSpPr>
              <p:spPr>
                <a:xfrm>
                  <a:off x="1053436" y="4692253"/>
                  <a:ext cx="3055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8FC2BED2-0C69-9164-AE8B-729A7FC5C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436" y="4692253"/>
                  <a:ext cx="30559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6000" b="-1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BC59E61D-E9B7-4781-827B-C58951AFB070}"/>
                </a:ext>
              </a:extLst>
            </p:cNvPr>
            <p:cNvSpPr txBox="1"/>
            <p:nvPr/>
          </p:nvSpPr>
          <p:spPr>
            <a:xfrm>
              <a:off x="1277663" y="4675777"/>
              <a:ext cx="45188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</a:rPr>
                <a:t>: Observador em repouso em um referencial inercial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E9480167-E996-7D3D-54C9-6A95A3506C32}"/>
              </a:ext>
            </a:extLst>
          </p:cNvPr>
          <p:cNvGrpSpPr/>
          <p:nvPr/>
        </p:nvGrpSpPr>
        <p:grpSpPr>
          <a:xfrm>
            <a:off x="3953266" y="711137"/>
            <a:ext cx="4847036" cy="658678"/>
            <a:chOff x="3953266" y="711137"/>
            <a:chExt cx="4847036" cy="658678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DA2D8ECF-6F58-1B07-1B10-41E442327BAB}"/>
                </a:ext>
              </a:extLst>
            </p:cNvPr>
            <p:cNvGrpSpPr/>
            <p:nvPr/>
          </p:nvGrpSpPr>
          <p:grpSpPr>
            <a:xfrm rot="2446514">
              <a:off x="3953266" y="771931"/>
              <a:ext cx="302340" cy="597884"/>
              <a:chOff x="589467" y="2350307"/>
              <a:chExt cx="504722" cy="998100"/>
            </a:xfrm>
          </p:grpSpPr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44C9D9A9-2F1C-AF18-1AFE-82510C3FAAB0}"/>
                  </a:ext>
                </a:extLst>
              </p:cNvPr>
              <p:cNvSpPr/>
              <p:nvPr/>
            </p:nvSpPr>
            <p:spPr>
              <a:xfrm>
                <a:off x="689429" y="2350307"/>
                <a:ext cx="252361" cy="25236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2AB1D4AC-97B5-37D8-3FDF-1927878B2E76}"/>
                  </a:ext>
                </a:extLst>
              </p:cNvPr>
              <p:cNvCxnSpPr>
                <a:cxnSpLocks/>
                <a:stCxn id="39" idx="4"/>
              </p:cNvCxnSpPr>
              <p:nvPr/>
            </p:nvCxnSpPr>
            <p:spPr>
              <a:xfrm>
                <a:off x="815610" y="2602668"/>
                <a:ext cx="0" cy="41979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113E8634-8EE4-D19F-4340-7B6FA2ECC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10" y="3022467"/>
                <a:ext cx="25236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>
                <a:extLst>
                  <a:ext uri="{FF2B5EF4-FFF2-40B4-BE49-F238E27FC236}">
                    <a16:creationId xmlns:a16="http://schemas.microsoft.com/office/drawing/2014/main" id="{43231807-4EEB-39F6-533F-23A2E25AD8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9429" y="3022467"/>
                <a:ext cx="12618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>
                <a:extLst>
                  <a:ext uri="{FF2B5EF4-FFF2-40B4-BE49-F238E27FC236}">
                    <a16:creationId xmlns:a16="http://schemas.microsoft.com/office/drawing/2014/main" id="{0248A745-4ADB-1223-6C9F-BB155E4334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467" y="2676247"/>
                <a:ext cx="226142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>
                <a:extLst>
                  <a:ext uri="{FF2B5EF4-FFF2-40B4-BE49-F238E27FC236}">
                    <a16:creationId xmlns:a16="http://schemas.microsoft.com/office/drawing/2014/main" id="{EE46171A-E687-C39D-ED88-0ABA9F2DC3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3070" y="2676247"/>
                <a:ext cx="271119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DBC24DB-5626-4EB0-4674-2EF0BA7F6F8D}"/>
                    </a:ext>
                  </a:extLst>
                </p:cNvPr>
                <p:cNvSpPr txBox="1"/>
                <p:nvPr/>
              </p:nvSpPr>
              <p:spPr>
                <a:xfrm>
                  <a:off x="4383082" y="750231"/>
                  <a:ext cx="30027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DBC24DB-5626-4EB0-4674-2EF0BA7F6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082" y="750231"/>
                  <a:ext cx="30027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6327" r="-8163" b="-130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CA73553F-B252-22C5-368C-78ACEE0AA2A4}"/>
                </a:ext>
              </a:extLst>
            </p:cNvPr>
            <p:cNvSpPr txBox="1"/>
            <p:nvPr/>
          </p:nvSpPr>
          <p:spPr>
            <a:xfrm>
              <a:off x="4632338" y="711137"/>
              <a:ext cx="41679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</a:rPr>
                <a:t>: Observador em um referencial não-inercial</a:t>
              </a:r>
            </a:p>
          </p:txBody>
        </p:sp>
      </p:grp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5951D42-420B-2CDD-9C6B-F675B407B21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</p:spTree>
    <p:extLst>
      <p:ext uri="{BB962C8B-B14F-4D97-AF65-F5344CB8AC3E}">
        <p14:creationId xmlns:p14="http://schemas.microsoft.com/office/powerpoint/2010/main" val="9160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8F16-CCA6-6AD6-50CD-87F56A30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5D4BFA-8E23-A445-7DDB-B9A55E3AFEBC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D052887-71E5-F520-FD97-8EB3A2DDF42B}"/>
              </a:ext>
            </a:extLst>
          </p:cNvPr>
          <p:cNvGrpSpPr/>
          <p:nvPr/>
        </p:nvGrpSpPr>
        <p:grpSpPr>
          <a:xfrm>
            <a:off x="5256060" y="2329219"/>
            <a:ext cx="455182" cy="475401"/>
            <a:chOff x="3320776" y="1130215"/>
            <a:chExt cx="455182" cy="4754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DF25C683-5394-9CFE-2523-6EC4935AFB28}"/>
                </a:ext>
              </a:extLst>
            </p:cNvPr>
            <p:cNvSpPr/>
            <p:nvPr/>
          </p:nvSpPr>
          <p:spPr>
            <a:xfrm rot="2694760">
              <a:off x="3320776" y="1130215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A26FF8-B60C-1266-B32C-5EE37DD5F9E5}"/>
                </a:ext>
              </a:extLst>
            </p:cNvPr>
            <p:cNvSpPr txBox="1"/>
            <p:nvPr/>
          </p:nvSpPr>
          <p:spPr>
            <a:xfrm>
              <a:off x="3456372" y="1143951"/>
              <a:ext cx="201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4CEC8FB-7A83-A7A7-BCB0-0B8EBEF7D9D9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584AC07F-F4E7-2B21-BA41-9378840339A2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18B63D5-10A7-3978-99AD-7E82914D15B1}"/>
                </a:ext>
              </a:extLst>
            </p:cNvPr>
            <p:cNvSpPr txBox="1"/>
            <p:nvPr/>
          </p:nvSpPr>
          <p:spPr>
            <a:xfrm>
              <a:off x="2889846" y="2784208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DCFD8742-C7FE-F955-04F9-3CD471BB3179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E07FA56-A9C8-61EF-17E0-D97AD4326213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DB13A5C-B1B9-2129-1759-DA7F0BA481DB}"/>
              </a:ext>
            </a:extLst>
          </p:cNvPr>
          <p:cNvGrpSpPr/>
          <p:nvPr/>
        </p:nvGrpSpPr>
        <p:grpSpPr>
          <a:xfrm rot="2742964">
            <a:off x="3777965" y="702712"/>
            <a:ext cx="1440724" cy="1011355"/>
            <a:chOff x="3739078" y="522432"/>
            <a:chExt cx="1440724" cy="1011355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28CC2CA-5DBF-6CEE-AB7C-B742B991EE29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07D57A2-0A04-17E9-53F4-97B26FE3C13E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07D57A2-0A04-17E9-53F4-97B26FE3C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A743B4CF-7966-788A-34BE-37C638190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AF5C8A5-206D-ED0E-D3F0-D6618328B167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AF5C8A5-206D-ED0E-D3F0-D6618328B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980" b="-198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58117DE-7E6A-A9C3-0C1F-901D80CE2F02}"/>
              </a:ext>
            </a:extLst>
          </p:cNvPr>
          <p:cNvGrpSpPr/>
          <p:nvPr/>
        </p:nvGrpSpPr>
        <p:grpSpPr>
          <a:xfrm>
            <a:off x="291382" y="3922940"/>
            <a:ext cx="1440724" cy="1011355"/>
            <a:chOff x="3739078" y="522432"/>
            <a:chExt cx="1440724" cy="1011355"/>
          </a:xfrm>
        </p:grpSpPr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1E0C70C1-1936-7F02-E437-39F253F6E091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A02CA25-7410-7F16-3258-5B801DEF1B94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A02CA25-7410-7F16-3258-5B801DEF1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DD0D1737-D89D-CF14-3891-764500DB5A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F30A6-2FDE-D2E3-BD15-37929DCFFC4C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F30A6-2FDE-D2E3-BD15-37929DCF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532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16C9-386F-C0F3-3AC2-5AF4EC6A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D63B972-D241-256C-CE55-D302A37C09BB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DFE6E5-7E5A-01C1-EE01-C50AA1F569B4}"/>
              </a:ext>
            </a:extLst>
          </p:cNvPr>
          <p:cNvSpPr/>
          <p:nvPr/>
        </p:nvSpPr>
        <p:spPr>
          <a:xfrm rot="2694760">
            <a:off x="5256060" y="2329219"/>
            <a:ext cx="455182" cy="455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A771877-ED9B-2CBF-ACF8-04FADCEB6CD1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D91C37C8-E999-0CE2-2D4C-7ECAE96D516E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AA84DDA-1777-BB5C-BF29-65BEAB7B3F29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F4196A-036D-376D-759D-020AC1B53AE9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8DEA34D-E4C0-48AF-6E08-9600F93A0F01}"/>
              </a:ext>
            </a:extLst>
          </p:cNvPr>
          <p:cNvCxnSpPr>
            <a:cxnSpLocks/>
          </p:cNvCxnSpPr>
          <p:nvPr/>
        </p:nvCxnSpPr>
        <p:spPr>
          <a:xfrm>
            <a:off x="717504" y="4100880"/>
            <a:ext cx="793739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4F5CF1A-2AFC-FF0B-4443-D43220D3867A}"/>
              </a:ext>
            </a:extLst>
          </p:cNvPr>
          <p:cNvCxnSpPr>
            <a:cxnSpLocks/>
          </p:cNvCxnSpPr>
          <p:nvPr/>
        </p:nvCxnSpPr>
        <p:spPr>
          <a:xfrm flipV="1">
            <a:off x="729461" y="836428"/>
            <a:ext cx="0" cy="324977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1838B8BB-4856-BCB6-747D-8BFE549FBDD9}"/>
              </a:ext>
            </a:extLst>
          </p:cNvPr>
          <p:cNvGrpSpPr/>
          <p:nvPr/>
        </p:nvGrpSpPr>
        <p:grpSpPr>
          <a:xfrm>
            <a:off x="4017283" y="1087176"/>
            <a:ext cx="1305192" cy="1308948"/>
            <a:chOff x="4017283" y="1087176"/>
            <a:chExt cx="1305192" cy="1308948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4F4D107-A90A-7D65-99F9-11B3D5F19E0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017283" y="1087176"/>
              <a:ext cx="1305192" cy="130894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/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62295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D5171F7-4C4B-1DEC-B797-F8200B067A08}"/>
              </a:ext>
            </a:extLst>
          </p:cNvPr>
          <p:cNvGrpSpPr/>
          <p:nvPr/>
        </p:nvGrpSpPr>
        <p:grpSpPr>
          <a:xfrm>
            <a:off x="729461" y="3038328"/>
            <a:ext cx="3109331" cy="438776"/>
            <a:chOff x="729461" y="3038328"/>
            <a:chExt cx="3109331" cy="438776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D856E1C9-9621-8DCA-9E40-611783E7A06B}"/>
                </a:ext>
              </a:extLst>
            </p:cNvPr>
            <p:cNvCxnSpPr>
              <a:cxnSpLocks/>
            </p:cNvCxnSpPr>
            <p:nvPr/>
          </p:nvCxnSpPr>
          <p:spPr>
            <a:xfrm>
              <a:off x="729461" y="3477104"/>
              <a:ext cx="310933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/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3770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6ABC697C-9FB5-8118-386B-4114146246FB}"/>
              </a:ext>
            </a:extLst>
          </p:cNvPr>
          <p:cNvGrpSpPr/>
          <p:nvPr/>
        </p:nvGrpSpPr>
        <p:grpSpPr>
          <a:xfrm>
            <a:off x="717504" y="2234948"/>
            <a:ext cx="4538557" cy="430915"/>
            <a:chOff x="717504" y="2234948"/>
            <a:chExt cx="4538557" cy="430915"/>
          </a:xfrm>
        </p:grpSpPr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CE6AAE4A-B5CF-61FA-ECB1-24CF1C174639}"/>
                </a:ext>
              </a:extLst>
            </p:cNvPr>
            <p:cNvCxnSpPr>
              <a:cxnSpLocks/>
              <a:endCxn id="7" idx="5"/>
            </p:cNvCxnSpPr>
            <p:nvPr/>
          </p:nvCxnSpPr>
          <p:spPr>
            <a:xfrm>
              <a:off x="717504" y="2665863"/>
              <a:ext cx="453855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/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7213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F76EB8C-0DD2-213A-BD4E-3A47751B8715}"/>
              </a:ext>
            </a:extLst>
          </p:cNvPr>
          <p:cNvGrpSpPr/>
          <p:nvPr/>
        </p:nvGrpSpPr>
        <p:grpSpPr>
          <a:xfrm>
            <a:off x="5483651" y="1180132"/>
            <a:ext cx="372876" cy="1312250"/>
            <a:chOff x="5483651" y="1180132"/>
            <a:chExt cx="372876" cy="1312250"/>
          </a:xfrm>
        </p:grpSpPr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C6EF2B75-5BB9-2319-1030-00916895D08A}"/>
                </a:ext>
              </a:extLst>
            </p:cNvPr>
            <p:cNvCxnSpPr>
              <a:cxnSpLocks/>
            </p:cNvCxnSpPr>
            <p:nvPr/>
          </p:nvCxnSpPr>
          <p:spPr>
            <a:xfrm>
              <a:off x="5483651" y="1180132"/>
              <a:ext cx="0" cy="131225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/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7213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924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78D8-4681-0E20-CA6B-2436C72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6B8955-31AC-E9A6-CF57-A293E4175963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8BBDCE1-5F2D-3ED3-C178-D11D02E4EF90}"/>
              </a:ext>
            </a:extLst>
          </p:cNvPr>
          <p:cNvGrpSpPr/>
          <p:nvPr/>
        </p:nvGrpSpPr>
        <p:grpSpPr>
          <a:xfrm>
            <a:off x="349627" y="836429"/>
            <a:ext cx="4877194" cy="2084248"/>
            <a:chOff x="717504" y="836428"/>
            <a:chExt cx="7937398" cy="3392014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350ECEC-01C4-185A-EE36-97721814F611}"/>
                </a:ext>
              </a:extLst>
            </p:cNvPr>
            <p:cNvSpPr/>
            <p:nvPr/>
          </p:nvSpPr>
          <p:spPr>
            <a:xfrm rot="2694760">
              <a:off x="5256060" y="2329218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94EA3A21-0DF4-AB13-CFC3-8F7F64909A1B}"/>
                </a:ext>
              </a:extLst>
            </p:cNvPr>
            <p:cNvGrpSpPr/>
            <p:nvPr/>
          </p:nvGrpSpPr>
          <p:grpSpPr>
            <a:xfrm>
              <a:off x="3838792" y="1248594"/>
              <a:ext cx="2834537" cy="2979848"/>
              <a:chOff x="2190308" y="949841"/>
              <a:chExt cx="3494568" cy="3673715"/>
            </a:xfrm>
          </p:grpSpPr>
          <p:sp>
            <p:nvSpPr>
              <p:cNvPr id="7" name="Triângulo Retângulo 6">
                <a:extLst>
                  <a:ext uri="{FF2B5EF4-FFF2-40B4-BE49-F238E27FC236}">
                    <a16:creationId xmlns:a16="http://schemas.microsoft.com/office/drawing/2014/main" id="{471C94C3-A606-0C62-F929-3FD27E69093A}"/>
                  </a:ext>
                </a:extLst>
              </p:cNvPr>
              <p:cNvSpPr/>
              <p:nvPr/>
            </p:nvSpPr>
            <p:spPr>
              <a:xfrm>
                <a:off x="2190308" y="949841"/>
                <a:ext cx="3494568" cy="3494568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098E863-56CB-BC7A-2198-1BC83AE5E1F0}"/>
                  </a:ext>
                </a:extLst>
              </p:cNvPr>
              <p:cNvSpPr txBox="1"/>
              <p:nvPr/>
            </p:nvSpPr>
            <p:spPr>
              <a:xfrm>
                <a:off x="4755327" y="3697267"/>
                <a:ext cx="393082" cy="926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solidFill>
                      <a:schemeClr val="bg1"/>
                    </a:solidFill>
                  </a:rPr>
                  <a:t>α</a:t>
                </a:r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5B50DE9-4D08-B334-031F-9445CEF10ABC}"/>
                </a:ext>
              </a:extLst>
            </p:cNvPr>
            <p:cNvCxnSpPr>
              <a:cxnSpLocks/>
            </p:cNvCxnSpPr>
            <p:nvPr/>
          </p:nvCxnSpPr>
          <p:spPr>
            <a:xfrm>
              <a:off x="2430147" y="4100379"/>
              <a:ext cx="547338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2C640BE7-6463-AF92-A508-F9CA2BE3A08E}"/>
                </a:ext>
              </a:extLst>
            </p:cNvPr>
            <p:cNvCxnSpPr>
              <a:cxnSpLocks/>
            </p:cNvCxnSpPr>
            <p:nvPr/>
          </p:nvCxnSpPr>
          <p:spPr>
            <a:xfrm>
              <a:off x="717504" y="4100880"/>
              <a:ext cx="7937398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2A9DB713-1757-14BE-97BF-62A70435D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461" y="836428"/>
              <a:ext cx="0" cy="324977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AC6CD7A3-69B3-186F-033F-A0757F39AB0C}"/>
                </a:ext>
              </a:extLst>
            </p:cNvPr>
            <p:cNvGrpSpPr/>
            <p:nvPr/>
          </p:nvGrpSpPr>
          <p:grpSpPr>
            <a:xfrm>
              <a:off x="4017283" y="1087176"/>
              <a:ext cx="1305192" cy="1308948"/>
              <a:chOff x="4017283" y="1087176"/>
              <a:chExt cx="1305192" cy="1308948"/>
            </a:xfrm>
          </p:grpSpPr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8DD8379-F36A-B088-DE87-AFC6B758C19E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4017283" y="1087176"/>
                <a:ext cx="1305192" cy="1308948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58FEA731-3E75-0C0E-E0A9-120B90793EB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5873" y="1140701"/>
                    <a:ext cx="728267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58FEA731-3E75-0C0E-E0A9-120B90793E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5873" y="1140701"/>
                    <a:ext cx="728267" cy="60107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378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69539DF6-38FC-F4A6-C21A-BE93A20F5541}"/>
                </a:ext>
              </a:extLst>
            </p:cNvPr>
            <p:cNvGrpSpPr/>
            <p:nvPr/>
          </p:nvGrpSpPr>
          <p:grpSpPr>
            <a:xfrm>
              <a:off x="729461" y="2865667"/>
              <a:ext cx="3109331" cy="611437"/>
              <a:chOff x="729461" y="2865667"/>
              <a:chExt cx="3109331" cy="611437"/>
            </a:xfrm>
          </p:grpSpPr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AAADCD15-98C9-B136-D03E-FCA4CA96D6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461" y="3477104"/>
                <a:ext cx="310933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aixaDeTexto 30">
                    <a:extLst>
                      <a:ext uri="{FF2B5EF4-FFF2-40B4-BE49-F238E27FC236}">
                        <a16:creationId xmlns:a16="http://schemas.microsoft.com/office/drawing/2014/main" id="{1E7FC3EF-83FA-2E53-6265-60F337D8F94E}"/>
                      </a:ext>
                    </a:extLst>
                  </p:cNvPr>
                  <p:cNvSpPr txBox="1"/>
                  <p:nvPr/>
                </p:nvSpPr>
                <p:spPr>
                  <a:xfrm>
                    <a:off x="1732694" y="2865667"/>
                    <a:ext cx="697453" cy="60107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1" name="CaixaDeTexto 30">
                    <a:extLst>
                      <a:ext uri="{FF2B5EF4-FFF2-40B4-BE49-F238E27FC236}">
                        <a16:creationId xmlns:a16="http://schemas.microsoft.com/office/drawing/2014/main" id="{1E7FC3EF-83FA-2E53-6265-60F337D8F9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2694" y="2865667"/>
                    <a:ext cx="697453" cy="60107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51429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1FDD0D44-491B-9FAF-386C-2CB5F6F299D6}"/>
                </a:ext>
              </a:extLst>
            </p:cNvPr>
            <p:cNvGrpSpPr/>
            <p:nvPr/>
          </p:nvGrpSpPr>
          <p:grpSpPr>
            <a:xfrm>
              <a:off x="717504" y="2042420"/>
              <a:ext cx="4538557" cy="623443"/>
              <a:chOff x="717504" y="2042420"/>
              <a:chExt cx="4538557" cy="623443"/>
            </a:xfrm>
          </p:grpSpPr>
          <p:cxnSp>
            <p:nvCxnSpPr>
              <p:cNvPr id="32" name="Conector de Seta Reta 31">
                <a:extLst>
                  <a:ext uri="{FF2B5EF4-FFF2-40B4-BE49-F238E27FC236}">
                    <a16:creationId xmlns:a16="http://schemas.microsoft.com/office/drawing/2014/main" id="{86DCDA93-F849-1997-9E31-D65473447B41}"/>
                  </a:ext>
                </a:extLst>
              </p:cNvPr>
              <p:cNvCxnSpPr>
                <a:cxnSpLocks/>
                <a:endCxn id="7" idx="5"/>
              </p:cNvCxnSpPr>
              <p:nvPr/>
            </p:nvCxnSpPr>
            <p:spPr>
              <a:xfrm>
                <a:off x="717504" y="2665863"/>
                <a:ext cx="4538557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aixaDeTexto 33">
                    <a:extLst>
                      <a:ext uri="{FF2B5EF4-FFF2-40B4-BE49-F238E27FC236}">
                        <a16:creationId xmlns:a16="http://schemas.microsoft.com/office/drawing/2014/main" id="{BBA69F41-270B-CB0D-1D21-A3F5B53273D0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813" y="2042420"/>
                    <a:ext cx="705333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4" name="CaixaDeTexto 33">
                    <a:extLst>
                      <a:ext uri="{FF2B5EF4-FFF2-40B4-BE49-F238E27FC236}">
                        <a16:creationId xmlns:a16="http://schemas.microsoft.com/office/drawing/2014/main" id="{BBA69F41-270B-CB0D-1D21-A3F5B5327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813" y="2042420"/>
                    <a:ext cx="705333" cy="60107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43662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DE8B8A8C-382C-CDF2-819B-4B66D76B1C01}"/>
                </a:ext>
              </a:extLst>
            </p:cNvPr>
            <p:cNvGrpSpPr/>
            <p:nvPr/>
          </p:nvGrpSpPr>
          <p:grpSpPr>
            <a:xfrm>
              <a:off x="5428244" y="1180132"/>
              <a:ext cx="754537" cy="1312250"/>
              <a:chOff x="5428244" y="1180132"/>
              <a:chExt cx="754537" cy="1312250"/>
            </a:xfrm>
          </p:grpSpPr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A3CAAC1C-62F1-428E-49D1-B9F8AD0D9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651" y="1180132"/>
                <a:ext cx="0" cy="131225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0CC0E025-BC1A-3A51-2F67-11234257D254}"/>
                      </a:ext>
                    </a:extLst>
                  </p:cNvPr>
                  <p:cNvSpPr txBox="1"/>
                  <p:nvPr/>
                </p:nvSpPr>
                <p:spPr>
                  <a:xfrm>
                    <a:off x="5428244" y="1441351"/>
                    <a:ext cx="754537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0CC0E025-BC1A-3A51-2F67-11234257D2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8244" y="1441351"/>
                    <a:ext cx="754537" cy="60107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4211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/>
              <p:nvPr/>
            </p:nvSpPr>
            <p:spPr>
              <a:xfrm>
                <a:off x="2928511" y="3430073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511" y="3430073"/>
                <a:ext cx="30078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AB46B45C-498E-F449-AE0F-1CC0903D5C20}"/>
              </a:ext>
            </a:extLst>
          </p:cNvPr>
          <p:cNvGrpSpPr/>
          <p:nvPr/>
        </p:nvGrpSpPr>
        <p:grpSpPr>
          <a:xfrm>
            <a:off x="5739746" y="952121"/>
            <a:ext cx="3348862" cy="2501538"/>
            <a:chOff x="5739746" y="952121"/>
            <a:chExt cx="3348862" cy="2501538"/>
          </a:xfrm>
        </p:grpSpPr>
        <p:sp>
          <p:nvSpPr>
            <p:cNvPr id="13" name="Triângulo Retângulo 12">
              <a:extLst>
                <a:ext uri="{FF2B5EF4-FFF2-40B4-BE49-F238E27FC236}">
                  <a16:creationId xmlns:a16="http://schemas.microsoft.com/office/drawing/2014/main" id="{EDF23C91-D572-F649-CF6B-40BC4116C6B4}"/>
                </a:ext>
              </a:extLst>
            </p:cNvPr>
            <p:cNvSpPr/>
            <p:nvPr/>
          </p:nvSpPr>
          <p:spPr>
            <a:xfrm>
              <a:off x="7161785" y="1137120"/>
              <a:ext cx="1741703" cy="1741703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F0B00DA-0FC4-C845-D93D-6273E834E874}"/>
                    </a:ext>
                  </a:extLst>
                </p:cNvPr>
                <p:cNvSpPr txBox="1"/>
                <p:nvPr/>
              </p:nvSpPr>
              <p:spPr>
                <a:xfrm>
                  <a:off x="7818212" y="1638639"/>
                  <a:ext cx="70304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F0B00DA-0FC4-C845-D93D-6273E834E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8212" y="1638639"/>
                  <a:ext cx="7030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A45C34C2-163E-CAC3-9DB4-414EEBC536D8}"/>
                </a:ext>
              </a:extLst>
            </p:cNvPr>
            <p:cNvCxnSpPr>
              <a:cxnSpLocks/>
            </p:cNvCxnSpPr>
            <p:nvPr/>
          </p:nvCxnSpPr>
          <p:spPr>
            <a:xfrm>
              <a:off x="8286623" y="1940325"/>
              <a:ext cx="801985" cy="804293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353960C6-6E02-2537-2B30-FDE0C9CA16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60822" y="952121"/>
              <a:ext cx="771814" cy="754129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C7824A58-22E7-434C-A2BA-979DE30B9A85}"/>
                </a:ext>
              </a:extLst>
            </p:cNvPr>
            <p:cNvSpPr txBox="1"/>
            <p:nvPr/>
          </p:nvSpPr>
          <p:spPr>
            <a:xfrm>
              <a:off x="8399458" y="2509490"/>
              <a:ext cx="288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DD8E5193-1812-3FDD-0712-6D230DBE2732}"/>
                </a:ext>
              </a:extLst>
            </p:cNvPr>
            <p:cNvCxnSpPr>
              <a:cxnSpLocks/>
            </p:cNvCxnSpPr>
            <p:nvPr/>
          </p:nvCxnSpPr>
          <p:spPr>
            <a:xfrm>
              <a:off x="6956237" y="1108799"/>
              <a:ext cx="0" cy="806322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D98292CD-27C8-D4A1-0A91-E8392608DFF3}"/>
                    </a:ext>
                  </a:extLst>
                </p:cNvPr>
                <p:cNvSpPr txBox="1"/>
                <p:nvPr/>
              </p:nvSpPr>
              <p:spPr>
                <a:xfrm>
                  <a:off x="6443087" y="1321070"/>
                  <a:ext cx="4636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D98292CD-27C8-D4A1-0A91-E8392608D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3087" y="1321070"/>
                  <a:ext cx="4636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6579"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A2251F18-1EA3-F3F1-E8FE-C2CAAED212C3}"/>
                </a:ext>
              </a:extLst>
            </p:cNvPr>
            <p:cNvCxnSpPr>
              <a:cxnSpLocks/>
            </p:cNvCxnSpPr>
            <p:nvPr/>
          </p:nvCxnSpPr>
          <p:spPr>
            <a:xfrm>
              <a:off x="6956237" y="1946792"/>
              <a:ext cx="0" cy="932031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5F72D69D-1B63-8A2F-7349-4AD086A8D70B}"/>
                    </a:ext>
                  </a:extLst>
                </p:cNvPr>
                <p:cNvSpPr txBox="1"/>
                <p:nvPr/>
              </p:nvSpPr>
              <p:spPr>
                <a:xfrm>
                  <a:off x="5739746" y="2258918"/>
                  <a:ext cx="13072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5F72D69D-1B63-8A2F-7349-4AD086A8D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746" y="2258918"/>
                  <a:ext cx="1307278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0C204303-A3FE-4F0D-952E-8F05048C8331}"/>
                </a:ext>
              </a:extLst>
            </p:cNvPr>
            <p:cNvCxnSpPr>
              <a:cxnSpLocks/>
            </p:cNvCxnSpPr>
            <p:nvPr/>
          </p:nvCxnSpPr>
          <p:spPr>
            <a:xfrm>
              <a:off x="7143827" y="3056215"/>
              <a:ext cx="175966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9E004255-A8BD-1235-4BB6-3F97EAA0ECCC}"/>
                    </a:ext>
                  </a:extLst>
                </p:cNvPr>
                <p:cNvSpPr txBox="1"/>
                <p:nvPr/>
              </p:nvSpPr>
              <p:spPr>
                <a:xfrm>
                  <a:off x="7582906" y="3145882"/>
                  <a:ext cx="88150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9E004255-A8BD-1235-4BB6-3F97EAA0E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906" y="3145882"/>
                  <a:ext cx="88150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/>
              <p:nvPr/>
            </p:nvSpPr>
            <p:spPr>
              <a:xfrm>
                <a:off x="2928511" y="3939211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511" y="3939211"/>
                <a:ext cx="3007851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3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2246-953F-330B-84A8-07FC6CC2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1E6231BD-6AE4-8C81-6CA4-70D327F1D8DA}"/>
              </a:ext>
            </a:extLst>
          </p:cNvPr>
          <p:cNvSpPr/>
          <p:nvPr/>
        </p:nvSpPr>
        <p:spPr>
          <a:xfrm>
            <a:off x="3069671" y="987223"/>
            <a:ext cx="2834537" cy="2834537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EA15EE-0EA3-CC54-C11A-241F6CD800F0}"/>
              </a:ext>
            </a:extLst>
          </p:cNvPr>
          <p:cNvSpPr txBox="1"/>
          <p:nvPr/>
        </p:nvSpPr>
        <p:spPr>
          <a:xfrm>
            <a:off x="5514768" y="3447289"/>
            <a:ext cx="20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chemeClr val="bg1"/>
                </a:solidFill>
              </a:rPr>
              <a:t>α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145322E-226A-E040-833D-E691C7832FCF}"/>
              </a:ext>
            </a:extLst>
          </p:cNvPr>
          <p:cNvSpPr/>
          <p:nvPr/>
        </p:nvSpPr>
        <p:spPr>
          <a:xfrm rot="2694760">
            <a:off x="3986640" y="1574693"/>
            <a:ext cx="455182" cy="455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A36ACB7-2FDB-E682-0644-60DC3D693220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Diagrama de forças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5ED0105-E69A-E885-2C87-B630881BB569}"/>
              </a:ext>
            </a:extLst>
          </p:cNvPr>
          <p:cNvGrpSpPr/>
          <p:nvPr/>
        </p:nvGrpSpPr>
        <p:grpSpPr>
          <a:xfrm>
            <a:off x="4132583" y="592252"/>
            <a:ext cx="4167964" cy="1048856"/>
            <a:chOff x="4132583" y="592252"/>
            <a:chExt cx="4167964" cy="10488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9E96DFA1-4974-7C3B-BF1B-EA8E17BAEB59}"/>
                    </a:ext>
                  </a:extLst>
                </p:cNvPr>
                <p:cNvSpPr txBox="1"/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9E96DFA1-4974-7C3B-BF1B-EA8E17BAE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16E2A8C5-266D-D4D9-1D9B-13F01EB1AC8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4374917" y="1230482"/>
              <a:ext cx="404417" cy="41062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32FDC53-6AF9-7172-C2C6-232A5AB6FF62}"/>
                </a:ext>
              </a:extLst>
            </p:cNvPr>
            <p:cNvSpPr txBox="1"/>
            <p:nvPr/>
          </p:nvSpPr>
          <p:spPr>
            <a:xfrm>
              <a:off x="4132583" y="592252"/>
              <a:ext cx="4167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Força de reação do plano no bloco (atua no bloco)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6CBA366-37DC-D6A4-7A89-9150DE78FF52}"/>
              </a:ext>
            </a:extLst>
          </p:cNvPr>
          <p:cNvGrpSpPr/>
          <p:nvPr/>
        </p:nvGrpSpPr>
        <p:grpSpPr>
          <a:xfrm>
            <a:off x="643015" y="2673779"/>
            <a:ext cx="2526271" cy="1147981"/>
            <a:chOff x="643015" y="2673779"/>
            <a:chExt cx="2526271" cy="1147981"/>
          </a:xfrm>
        </p:grpSpPr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514524F9-5A4C-C069-109E-19BEEC5A96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1083" y="2673779"/>
              <a:ext cx="448203" cy="40311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BD5364D3-A3E0-04A3-3D16-C18061BF6C36}"/>
                    </a:ext>
                  </a:extLst>
                </p:cNvPr>
                <p:cNvSpPr txBox="1"/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BD5364D3-A3E0-04A3-3D16-C18061B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908CC9C-49DE-900B-38EA-4A4DB706DD00}"/>
                </a:ext>
              </a:extLst>
            </p:cNvPr>
            <p:cNvSpPr txBox="1"/>
            <p:nvPr/>
          </p:nvSpPr>
          <p:spPr>
            <a:xfrm>
              <a:off x="643015" y="3298540"/>
              <a:ext cx="2078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Força de reação do bloco no plano (atua no plano)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FB159E6-F854-68F6-FC89-6F12838C301E}"/>
              </a:ext>
            </a:extLst>
          </p:cNvPr>
          <p:cNvGrpSpPr/>
          <p:nvPr/>
        </p:nvGrpSpPr>
        <p:grpSpPr>
          <a:xfrm>
            <a:off x="3981820" y="1826338"/>
            <a:ext cx="2255482" cy="1021839"/>
            <a:chOff x="3981820" y="1826338"/>
            <a:chExt cx="2255482" cy="1021839"/>
          </a:xfrm>
        </p:grpSpPr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64DD873B-27BC-0CAF-DED4-26AAE4ABC890}"/>
                </a:ext>
              </a:extLst>
            </p:cNvPr>
            <p:cNvCxnSpPr>
              <a:cxnSpLocks/>
            </p:cNvCxnSpPr>
            <p:nvPr/>
          </p:nvCxnSpPr>
          <p:spPr>
            <a:xfrm>
              <a:off x="4203405" y="1826338"/>
              <a:ext cx="0" cy="66763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402A661C-E4DF-BDA6-96C3-087BD131A319}"/>
                    </a:ext>
                  </a:extLst>
                </p:cNvPr>
                <p:cNvSpPr txBox="1"/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402A661C-E4DF-BDA6-96C3-087BD131A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484" r="-3297" b="-1052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D1CE1CAA-BD9D-F6F8-2CC7-AA7A4AAEAA86}"/>
                </a:ext>
              </a:extLst>
            </p:cNvPr>
            <p:cNvSpPr txBox="1"/>
            <p:nvPr/>
          </p:nvSpPr>
          <p:spPr>
            <a:xfrm>
              <a:off x="4497114" y="2522113"/>
              <a:ext cx="17401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 Força peso do bloco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022357D-7609-C374-099C-98FCCF6B1EB9}"/>
              </a:ext>
            </a:extLst>
          </p:cNvPr>
          <p:cNvGrpSpPr/>
          <p:nvPr/>
        </p:nvGrpSpPr>
        <p:grpSpPr>
          <a:xfrm>
            <a:off x="4316819" y="3392172"/>
            <a:ext cx="2339162" cy="1620153"/>
            <a:chOff x="4316819" y="3392172"/>
            <a:chExt cx="2339162" cy="1620153"/>
          </a:xfrm>
        </p:grpSpPr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FB0086ED-D154-F392-69EF-93A01C77A2FD}"/>
                </a:ext>
              </a:extLst>
            </p:cNvPr>
            <p:cNvCxnSpPr/>
            <p:nvPr/>
          </p:nvCxnSpPr>
          <p:spPr>
            <a:xfrm>
              <a:off x="4316819" y="3392172"/>
              <a:ext cx="0" cy="126881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0940167A-4D49-FA4E-9785-1032DC24FF55}"/>
                    </a:ext>
                  </a:extLst>
                </p:cNvPr>
                <p:cNvSpPr txBox="1"/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0940167A-4D49-FA4E-9785-1032DC24F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1978" r="-9890" b="-171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04DEC99-D872-12FD-4FF1-0615C40EE9FD}"/>
                </a:ext>
              </a:extLst>
            </p:cNvPr>
            <p:cNvSpPr txBox="1"/>
            <p:nvPr/>
          </p:nvSpPr>
          <p:spPr>
            <a:xfrm>
              <a:off x="4915793" y="4636507"/>
              <a:ext cx="17401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 Força peso do plano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742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E40B-69DA-951F-3CD0-2A73145C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FA4056-E736-12C7-9009-87C7093E1B92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Equações dinâmicas (Leis de Newton)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8EAF398-D2A8-6E91-EB5F-62B30064FD9C}"/>
              </a:ext>
            </a:extLst>
          </p:cNvPr>
          <p:cNvGrpSpPr/>
          <p:nvPr/>
        </p:nvGrpSpPr>
        <p:grpSpPr>
          <a:xfrm>
            <a:off x="304295" y="1349324"/>
            <a:ext cx="3055187" cy="3425674"/>
            <a:chOff x="2171837" y="827349"/>
            <a:chExt cx="3732371" cy="4184976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E55B160-F16D-F569-F378-B66DE616DBAF}"/>
                </a:ext>
              </a:extLst>
            </p:cNvPr>
            <p:cNvSpPr/>
            <p:nvPr/>
          </p:nvSpPr>
          <p:spPr>
            <a:xfrm>
              <a:off x="3069671" y="987223"/>
              <a:ext cx="2834537" cy="2834537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36CF5A0-1F4D-1180-F8C0-101B612A53F1}"/>
                </a:ext>
              </a:extLst>
            </p:cNvPr>
            <p:cNvSpPr txBox="1"/>
            <p:nvPr/>
          </p:nvSpPr>
          <p:spPr>
            <a:xfrm>
              <a:off x="5304795" y="3340219"/>
              <a:ext cx="287568" cy="563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E753813-0894-4EB1-74CE-73AFA95EFCB2}"/>
                </a:ext>
              </a:extLst>
            </p:cNvPr>
            <p:cNvSpPr/>
            <p:nvPr/>
          </p:nvSpPr>
          <p:spPr>
            <a:xfrm rot="2694760">
              <a:off x="3986640" y="1574693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E05AB0A-AC49-62D8-2D4A-EE6F2D84B322}"/>
                    </a:ext>
                  </a:extLst>
                </p:cNvPr>
                <p:cNvSpPr txBox="1"/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E05AB0A-AC49-62D8-2D4A-EE6F2D84B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21F24544-E986-1CA5-2175-6567359ED824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4374917" y="1230482"/>
              <a:ext cx="404417" cy="41062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F2FD00EC-99F4-B6FA-0C4B-4FC852117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1083" y="2673779"/>
              <a:ext cx="448203" cy="40311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2B79BFEC-7066-CC14-BE66-8FD29CEA2107}"/>
                    </a:ext>
                  </a:extLst>
                </p:cNvPr>
                <p:cNvSpPr txBox="1"/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2B79BFEC-7066-CC14-BE66-8FD29CEA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blipFill>
                  <a:blip r:embed="rId4"/>
                  <a:stretch>
                    <a:fillRect l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FA6B8E61-EE95-B4BE-A833-4EF933F283BD}"/>
                </a:ext>
              </a:extLst>
            </p:cNvPr>
            <p:cNvCxnSpPr>
              <a:cxnSpLocks/>
            </p:cNvCxnSpPr>
            <p:nvPr/>
          </p:nvCxnSpPr>
          <p:spPr>
            <a:xfrm>
              <a:off x="4203405" y="1826338"/>
              <a:ext cx="0" cy="66763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89526E8-B556-D8ED-FCDE-5B47C0B3D491}"/>
                    </a:ext>
                  </a:extLst>
                </p:cNvPr>
                <p:cNvSpPr txBox="1"/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89526E8-B556-D8ED-FCDE-5B47C0B3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31081" r="-16216" b="-3387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47279AC8-B46C-D538-863A-42D6C78C41EE}"/>
                </a:ext>
              </a:extLst>
            </p:cNvPr>
            <p:cNvCxnSpPr/>
            <p:nvPr/>
          </p:nvCxnSpPr>
          <p:spPr>
            <a:xfrm>
              <a:off x="4316819" y="3392172"/>
              <a:ext cx="0" cy="126881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BF4FD79-86EC-4FE0-B9B6-E231AC553C77}"/>
                    </a:ext>
                  </a:extLst>
                </p:cNvPr>
                <p:cNvSpPr txBox="1"/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BF4FD79-86EC-4FE0-B9B6-E231AC553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37838" r="-24324" b="-435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4AC4A6C-2CC1-5BCF-69AE-EA7ADC4C3338}"/>
                  </a:ext>
                </a:extLst>
              </p:cNvPr>
              <p:cNvSpPr txBox="1"/>
              <p:nvPr/>
            </p:nvSpPr>
            <p:spPr>
              <a:xfrm>
                <a:off x="6241612" y="1249358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4AC4A6C-2CC1-5BCF-69AE-EA7ADC4C3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612" y="1249358"/>
                <a:ext cx="2973272" cy="461665"/>
              </a:xfrm>
              <a:prstGeom prst="rect">
                <a:avLst/>
              </a:prstGeom>
              <a:blipFill>
                <a:blip r:embed="rId7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ABF2D84-79D3-1A33-2D61-F7BAD5B2E159}"/>
                  </a:ext>
                </a:extLst>
              </p:cNvPr>
              <p:cNvSpPr txBox="1"/>
              <p:nvPr/>
            </p:nvSpPr>
            <p:spPr>
              <a:xfrm>
                <a:off x="5369742" y="2065187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ABF2D84-79D3-1A33-2D61-F7BAD5B2E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42" y="2065187"/>
                <a:ext cx="2895300" cy="490840"/>
              </a:xfrm>
              <a:prstGeom prst="rect">
                <a:avLst/>
              </a:prstGeom>
              <a:blipFill>
                <a:blip r:embed="rId8"/>
                <a:stretch>
                  <a:fillRect l="-632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AE15E9-D6CF-BFDC-5678-A372B4614D94}"/>
                  </a:ext>
                </a:extLst>
              </p:cNvPr>
              <p:cNvSpPr txBox="1"/>
              <p:nvPr/>
            </p:nvSpPr>
            <p:spPr>
              <a:xfrm>
                <a:off x="6241612" y="2910191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AE15E9-D6CF-BFDC-5678-A372B4614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612" y="2910191"/>
                <a:ext cx="2973272" cy="461665"/>
              </a:xfrm>
              <a:prstGeom prst="rect">
                <a:avLst/>
              </a:prstGeom>
              <a:blipFill>
                <a:blip r:embed="rId9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09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C944-D314-2F45-4733-41C02243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321FE0D-E427-D88D-8D83-1AC042F87050}"/>
                  </a:ext>
                </a:extLst>
              </p:cNvPr>
              <p:cNvSpPr txBox="1"/>
              <p:nvPr/>
            </p:nvSpPr>
            <p:spPr>
              <a:xfrm>
                <a:off x="140813" y="1122047"/>
                <a:ext cx="37200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321FE0D-E427-D88D-8D83-1AC042F8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1122047"/>
                <a:ext cx="372006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CCA6542-FE7D-54BD-35A7-ACB76C7F1167}"/>
                  </a:ext>
                </a:extLst>
              </p:cNvPr>
              <p:cNvSpPr txBox="1"/>
              <p:nvPr/>
            </p:nvSpPr>
            <p:spPr>
              <a:xfrm>
                <a:off x="140813" y="1771374"/>
                <a:ext cx="35782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CCA6542-FE7D-54BD-35A7-ACB76C7F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1771374"/>
                <a:ext cx="3578293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D84F897-BBA7-CD10-04C4-2EACEE9A1D90}"/>
                  </a:ext>
                </a:extLst>
              </p:cNvPr>
              <p:cNvSpPr txBox="1"/>
              <p:nvPr/>
            </p:nvSpPr>
            <p:spPr>
              <a:xfrm>
                <a:off x="171454" y="217447"/>
                <a:ext cx="8781159" cy="732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bg1"/>
                    </a:solidFill>
                  </a:rPr>
                  <a:t>Derivando duas vezes em relação ao tempo as equações de movimento do bloco, e notando que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D84F897-BBA7-CD10-04C4-2EACEE9A1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4" y="217447"/>
                <a:ext cx="8781159" cy="732060"/>
              </a:xfrm>
              <a:prstGeom prst="rect">
                <a:avLst/>
              </a:prstGeom>
              <a:blipFill>
                <a:blip r:embed="rId5"/>
                <a:stretch>
                  <a:fillRect l="-694" t="-5000" r="-763" b="-11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0B09F56-4B0D-D53D-6021-519027F1739A}"/>
              </a:ext>
            </a:extLst>
          </p:cNvPr>
          <p:cNvGrpSpPr/>
          <p:nvPr/>
        </p:nvGrpSpPr>
        <p:grpSpPr>
          <a:xfrm>
            <a:off x="3141918" y="1122047"/>
            <a:ext cx="4372712" cy="411747"/>
            <a:chOff x="3141918" y="1625836"/>
            <a:chExt cx="4372712" cy="411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8321173-525E-8F4E-1FFD-5A40A41ED340}"/>
                    </a:ext>
                  </a:extLst>
                </p:cNvPr>
                <p:cNvSpPr txBox="1"/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8321173-525E-8F4E-1FFD-5A40A41ED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39FC210B-4D24-367F-D335-062677F8D22D}"/>
                    </a:ext>
                  </a:extLst>
                </p:cNvPr>
                <p:cNvSpPr txBox="1"/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39FC210B-4D24-367F-D335-062677F8D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5ADEA0A-5EB6-06D3-AD14-1499EB12102B}"/>
              </a:ext>
            </a:extLst>
          </p:cNvPr>
          <p:cNvGrpSpPr/>
          <p:nvPr/>
        </p:nvGrpSpPr>
        <p:grpSpPr>
          <a:xfrm>
            <a:off x="3141918" y="1759287"/>
            <a:ext cx="4230945" cy="436370"/>
            <a:chOff x="3141918" y="2263076"/>
            <a:chExt cx="4230945" cy="436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A84B9F3-8EE0-0BF1-D852-A21819EAA19B}"/>
                    </a:ext>
                  </a:extLst>
                </p:cNvPr>
                <p:cNvSpPr txBox="1"/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A84B9F3-8EE0-0BF1-D852-A21819EAA1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blipFill>
                  <a:blip r:embed="rId8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D483EA88-B270-8D95-7EFA-B6BDF998008A}"/>
                    </a:ext>
                  </a:extLst>
                </p:cNvPr>
                <p:cNvSpPr txBox="1"/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D483EA88-B270-8D95-7EFA-B6BDF9980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EC2E6F4-E571-9C68-CE31-E94CEABE66C3}"/>
              </a:ext>
            </a:extLst>
          </p:cNvPr>
          <p:cNvSpPr txBox="1"/>
          <p:nvPr/>
        </p:nvSpPr>
        <p:spPr>
          <a:xfrm>
            <a:off x="171454" y="2568104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Usando as leis de Newton: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40952C1-1C84-11BB-0B80-F23445F4D771}"/>
                  </a:ext>
                </a:extLst>
              </p:cNvPr>
              <p:cNvSpPr txBox="1"/>
              <p:nvPr/>
            </p:nvSpPr>
            <p:spPr>
              <a:xfrm>
                <a:off x="140813" y="3263511"/>
                <a:ext cx="42965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40952C1-1C84-11BB-0B80-F23445F4D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3263511"/>
                <a:ext cx="4296508" cy="461665"/>
              </a:xfrm>
              <a:prstGeom prst="rect">
                <a:avLst/>
              </a:prstGeom>
              <a:blipFill>
                <a:blip r:embed="rId10"/>
                <a:stretch>
                  <a:fillRect l="-284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FC2128C-8694-6589-E951-69D74CDFD3ED}"/>
              </a:ext>
            </a:extLst>
          </p:cNvPr>
          <p:cNvGrpSpPr/>
          <p:nvPr/>
        </p:nvGrpSpPr>
        <p:grpSpPr>
          <a:xfrm>
            <a:off x="4437321" y="3069605"/>
            <a:ext cx="5049208" cy="783804"/>
            <a:chOff x="4437321" y="3352748"/>
            <a:chExt cx="5049208" cy="783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AF934D29-C6CF-6D0F-F0B8-6AB4B37D955B}"/>
                    </a:ext>
                  </a:extLst>
                </p:cNvPr>
                <p:cNvSpPr txBox="1"/>
                <p:nvPr/>
              </p:nvSpPr>
              <p:spPr>
                <a:xfrm>
                  <a:off x="4437321" y="3592820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AF934D29-C6CF-6D0F-F0B8-6AB4B37D9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321" y="3592820"/>
                  <a:ext cx="60251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F6C17CFB-C72C-170E-22B9-99C579110C81}"/>
                    </a:ext>
                  </a:extLst>
                </p:cNvPr>
                <p:cNvSpPr txBox="1"/>
                <p:nvPr/>
              </p:nvSpPr>
              <p:spPr>
                <a:xfrm>
                  <a:off x="5190021" y="3352748"/>
                  <a:ext cx="4296508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>
                          <m:sSubPr>
                            <m:ctrlP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F6C17CFB-C72C-170E-22B9-99C579110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021" y="3352748"/>
                  <a:ext cx="4296508" cy="7838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BE4271B7-3409-30A4-57F7-4845B38C693B}"/>
                  </a:ext>
                </a:extLst>
              </p:cNvPr>
              <p:cNvSpPr txBox="1"/>
              <p:nvPr/>
            </p:nvSpPr>
            <p:spPr>
              <a:xfrm>
                <a:off x="171454" y="4290754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BE4271B7-3409-30A4-57F7-4845B38C6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4" y="4290754"/>
                <a:ext cx="2895300" cy="490840"/>
              </a:xfrm>
              <a:prstGeom prst="rect">
                <a:avLst/>
              </a:prstGeom>
              <a:blipFill>
                <a:blip r:embed="rId13"/>
                <a:stretch>
                  <a:fillRect l="-421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F7C8E0F-6FDF-3A70-917F-0BB66A7EF2BE}"/>
              </a:ext>
            </a:extLst>
          </p:cNvPr>
          <p:cNvGrpSpPr/>
          <p:nvPr/>
        </p:nvGrpSpPr>
        <p:grpSpPr>
          <a:xfrm>
            <a:off x="4437321" y="4069105"/>
            <a:ext cx="3648000" cy="783804"/>
            <a:chOff x="4437321" y="4342613"/>
            <a:chExt cx="3648000" cy="783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CE92772-E47B-9AAC-6C2F-EEB16C7B8DA3}"/>
                    </a:ext>
                  </a:extLst>
                </p:cNvPr>
                <p:cNvSpPr txBox="1"/>
                <p:nvPr/>
              </p:nvSpPr>
              <p:spPr>
                <a:xfrm>
                  <a:off x="4437321" y="4625016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CE92772-E47B-9AAC-6C2F-EEB16C7B8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321" y="4625016"/>
                  <a:ext cx="60251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7740DD61-C6C2-14A9-B3B6-5A288272E0CB}"/>
                    </a:ext>
                  </a:extLst>
                </p:cNvPr>
                <p:cNvSpPr txBox="1"/>
                <p:nvPr/>
              </p:nvSpPr>
              <p:spPr>
                <a:xfrm>
                  <a:off x="5190021" y="4342613"/>
                  <a:ext cx="289530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7740DD61-C6C2-14A9-B3B6-5A288272E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021" y="4342613"/>
                  <a:ext cx="2895300" cy="78380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110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9" grpId="0"/>
      <p:bldP spid="36" grpId="0"/>
      <p:bldP spid="37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FAE3-2E8F-B12E-5757-A040AF54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50E4AF9-5E1A-7896-7B77-7BB2F84FEC48}"/>
              </a:ext>
            </a:extLst>
          </p:cNvPr>
          <p:cNvGrpSpPr/>
          <p:nvPr/>
        </p:nvGrpSpPr>
        <p:grpSpPr>
          <a:xfrm>
            <a:off x="575491" y="529359"/>
            <a:ext cx="8720989" cy="722442"/>
            <a:chOff x="575491" y="529359"/>
            <a:chExt cx="8720989" cy="722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68F3355-7BB3-D035-F13B-FE8F5E744F77}"/>
                    </a:ext>
                  </a:extLst>
                </p:cNvPr>
                <p:cNvSpPr txBox="1"/>
                <p:nvPr/>
              </p:nvSpPr>
              <p:spPr>
                <a:xfrm>
                  <a:off x="575491" y="660354"/>
                  <a:ext cx="268515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68F3355-7BB3-D035-F13B-FE8F5E744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491" y="660354"/>
                  <a:ext cx="2685159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FBCAD3EF-BE40-F4D3-6B68-0D8964C2D3E7}"/>
                    </a:ext>
                  </a:extLst>
                </p:cNvPr>
                <p:cNvSpPr txBox="1"/>
                <p:nvPr/>
              </p:nvSpPr>
              <p:spPr>
                <a:xfrm>
                  <a:off x="3742662" y="660551"/>
                  <a:ext cx="2140690" cy="4908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FBCAD3EF-BE40-F4D3-6B68-0D8964C2D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662" y="660551"/>
                  <a:ext cx="2140690" cy="490840"/>
                </a:xfrm>
                <a:prstGeom prst="rect">
                  <a:avLst/>
                </a:prstGeom>
                <a:blipFill>
                  <a:blip r:embed="rId4"/>
                  <a:stretch>
                    <a:fillRect b="-617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4CE91BF-CFF4-CB62-610F-2D97CD29D5A3}"/>
                    </a:ext>
                  </a:extLst>
                </p:cNvPr>
                <p:cNvSpPr txBox="1"/>
                <p:nvPr/>
              </p:nvSpPr>
              <p:spPr>
                <a:xfrm>
                  <a:off x="6678581" y="529359"/>
                  <a:ext cx="2617899" cy="7224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4CE91BF-CFF4-CB62-610F-2D97CD29D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8581" y="529359"/>
                  <a:ext cx="2617899" cy="7224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B2057CE-C1B4-DD16-E0EF-6B931BA5CD4D}"/>
                  </a:ext>
                </a:extLst>
              </p:cNvPr>
              <p:cNvSpPr txBox="1"/>
              <p:nvPr/>
            </p:nvSpPr>
            <p:spPr>
              <a:xfrm>
                <a:off x="1615861" y="1778946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B2057CE-C1B4-DD16-E0EF-6B931BA5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61" y="1778946"/>
                <a:ext cx="5959696" cy="79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ixaDeTexto 30">
            <a:extLst>
              <a:ext uri="{FF2B5EF4-FFF2-40B4-BE49-F238E27FC236}">
                <a16:creationId xmlns:a16="http://schemas.microsoft.com/office/drawing/2014/main" id="{11B8D9DD-08E7-26CB-62EB-D1CCE9503375}"/>
              </a:ext>
            </a:extLst>
          </p:cNvPr>
          <p:cNvSpPr txBox="1"/>
          <p:nvPr/>
        </p:nvSpPr>
        <p:spPr>
          <a:xfrm>
            <a:off x="171454" y="217447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Das equações abaixo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B443DF1-BC90-B796-EE76-5D2D50C02BC4}"/>
              </a:ext>
            </a:extLst>
          </p:cNvPr>
          <p:cNvSpPr txBox="1"/>
          <p:nvPr/>
        </p:nvSpPr>
        <p:spPr>
          <a:xfrm>
            <a:off x="171454" y="1320986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Segue que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951D065-2087-ACFA-A95F-7D5E7ECCC8C7}"/>
              </a:ext>
            </a:extLst>
          </p:cNvPr>
          <p:cNvSpPr txBox="1"/>
          <p:nvPr/>
        </p:nvSpPr>
        <p:spPr>
          <a:xfrm>
            <a:off x="171454" y="2709014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Lembrando que</a:t>
            </a: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B408710C-9D9D-0A31-6FB7-271B1984CBA1}"/>
              </a:ext>
            </a:extLst>
          </p:cNvPr>
          <p:cNvGrpSpPr/>
          <p:nvPr/>
        </p:nvGrpSpPr>
        <p:grpSpPr>
          <a:xfrm>
            <a:off x="1399965" y="3200482"/>
            <a:ext cx="5536895" cy="490840"/>
            <a:chOff x="1399965" y="3200482"/>
            <a:chExt cx="5536895" cy="490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482B9B17-B389-77D9-05C6-F7D383503308}"/>
                    </a:ext>
                  </a:extLst>
                </p:cNvPr>
                <p:cNvSpPr txBox="1"/>
                <p:nvPr/>
              </p:nvSpPr>
              <p:spPr>
                <a:xfrm>
                  <a:off x="1399965" y="3200482"/>
                  <a:ext cx="2895300" cy="490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482B9B17-B389-77D9-05C6-F7D38350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965" y="3200482"/>
                  <a:ext cx="2895300" cy="490840"/>
                </a:xfrm>
                <a:prstGeom prst="rect">
                  <a:avLst/>
                </a:prstGeom>
                <a:blipFill>
                  <a:blip r:embed="rId7"/>
                  <a:stretch>
                    <a:fillRect b="-617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596904D6-DFB1-2FA0-3A62-13C3900046F7}"/>
                    </a:ext>
                  </a:extLst>
                </p:cNvPr>
                <p:cNvSpPr txBox="1"/>
                <p:nvPr/>
              </p:nvSpPr>
              <p:spPr>
                <a:xfrm>
                  <a:off x="4829843" y="3229657"/>
                  <a:ext cx="210701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596904D6-DFB1-2FA0-3A62-13C390004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843" y="3229657"/>
                  <a:ext cx="210701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D98F505-82A3-6A17-1680-212D98B0C966}"/>
              </a:ext>
            </a:extLst>
          </p:cNvPr>
          <p:cNvSpPr txBox="1"/>
          <p:nvPr/>
        </p:nvSpPr>
        <p:spPr>
          <a:xfrm>
            <a:off x="171454" y="3879206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Tem-se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F0AAB04-C38F-C7D3-8962-15220EEAD936}"/>
                  </a:ext>
                </a:extLst>
              </p:cNvPr>
              <p:cNvSpPr txBox="1"/>
              <p:nvPr/>
            </p:nvSpPr>
            <p:spPr>
              <a:xfrm>
                <a:off x="1615861" y="4200454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F0AAB04-C38F-C7D3-8962-15220EEAD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61" y="4200454"/>
                <a:ext cx="5959696" cy="7916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2" grpId="0"/>
      <p:bldP spid="33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DEE-E1F3-DE5B-0E39-5E96BBAF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994D3C5-90AB-9C83-B1D4-239ECFBA0733}"/>
              </a:ext>
            </a:extLst>
          </p:cNvPr>
          <p:cNvSpPr txBox="1"/>
          <p:nvPr/>
        </p:nvSpPr>
        <p:spPr>
          <a:xfrm>
            <a:off x="171454" y="200978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Temos então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/>
              <p:nvPr/>
            </p:nvSpPr>
            <p:spPr>
              <a:xfrm>
                <a:off x="1978989" y="650702"/>
                <a:ext cx="4258778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89" y="650702"/>
                <a:ext cx="4258778" cy="791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/>
              <p:nvPr/>
            </p:nvSpPr>
            <p:spPr>
              <a:xfrm>
                <a:off x="2018274" y="2113806"/>
                <a:ext cx="6458976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274" y="2113806"/>
                <a:ext cx="6458976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99F9A7F-4E39-8DAD-4D70-6F4870D04046}"/>
              </a:ext>
            </a:extLst>
          </p:cNvPr>
          <p:cNvSpPr txBox="1"/>
          <p:nvPr/>
        </p:nvSpPr>
        <p:spPr>
          <a:xfrm>
            <a:off x="171454" y="1610619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E segue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/>
              <p:nvPr/>
            </p:nvSpPr>
            <p:spPr>
              <a:xfrm>
                <a:off x="1940014" y="3154940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14" y="3154940"/>
                <a:ext cx="5959696" cy="791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/>
              <p:nvPr/>
            </p:nvSpPr>
            <p:spPr>
              <a:xfrm>
                <a:off x="1926124" y="4249531"/>
                <a:ext cx="5649433" cy="79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124" y="4249531"/>
                <a:ext cx="5649433" cy="79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70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55A6-99FF-AE95-A327-BBA0C196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3BD863-BE86-4446-7B5A-45BB50DBE21B}"/>
                  </a:ext>
                </a:extLst>
              </p:cNvPr>
              <p:cNvSpPr txBox="1"/>
              <p:nvPr/>
            </p:nvSpPr>
            <p:spPr>
              <a:xfrm>
                <a:off x="191386" y="910211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Usamos o referencial inercial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 parado em relação ao sistema bloco + plano inclinado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3BD863-BE86-4446-7B5A-45BB50DB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910211"/>
                <a:ext cx="8761228" cy="369332"/>
              </a:xfrm>
              <a:prstGeom prst="rect">
                <a:avLst/>
              </a:prstGeom>
              <a:blipFill>
                <a:blip r:embed="rId3"/>
                <a:stretch>
                  <a:fillRect l="-556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74DA5E22-709B-2BE2-4B46-0418533C8A29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Revisão conceitual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D20117-57A1-62D8-CC09-6787E157DCCE}"/>
              </a:ext>
            </a:extLst>
          </p:cNvPr>
          <p:cNvSpPr txBox="1"/>
          <p:nvPr/>
        </p:nvSpPr>
        <p:spPr>
          <a:xfrm>
            <a:off x="191386" y="1415832"/>
            <a:ext cx="8761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</a:rPr>
              <a:t>Leis de Newton para o bloco e para o plano inclinado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AEC2863-06C1-C8E0-CB31-C92E6846982D}"/>
                  </a:ext>
                </a:extLst>
              </p:cNvPr>
              <p:cNvSpPr txBox="1"/>
              <p:nvPr/>
            </p:nvSpPr>
            <p:spPr>
              <a:xfrm>
                <a:off x="191386" y="1955052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Equações de movimento para o bloco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AEC2863-06C1-C8E0-CB31-C92E68469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1955052"/>
                <a:ext cx="8761228" cy="369332"/>
              </a:xfrm>
              <a:prstGeom prst="rect">
                <a:avLst/>
              </a:prstGeom>
              <a:blipFill>
                <a:blip r:embed="rId4"/>
                <a:stretch>
                  <a:fillRect l="-556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1CF10C0-D2A7-B0CA-1AA3-8ED17C32E031}"/>
                  </a:ext>
                </a:extLst>
              </p:cNvPr>
              <p:cNvSpPr txBox="1"/>
              <p:nvPr/>
            </p:nvSpPr>
            <p:spPr>
              <a:xfrm>
                <a:off x="191386" y="2494272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Equações de movimento para o plano inclinado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1CF10C0-D2A7-B0CA-1AA3-8ED17C32E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2494272"/>
                <a:ext cx="8761228" cy="369332"/>
              </a:xfrm>
              <a:prstGeom prst="rect">
                <a:avLst/>
              </a:prstGeom>
              <a:blipFill>
                <a:blip r:embed="rId5"/>
                <a:stretch>
                  <a:fillRect l="-556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9787C88-3792-E082-3DC7-732C0AA49F5B}"/>
                  </a:ext>
                </a:extLst>
              </p:cNvPr>
              <p:cNvSpPr txBox="1"/>
              <p:nvPr/>
            </p:nvSpPr>
            <p:spPr>
              <a:xfrm>
                <a:off x="191386" y="3053419"/>
                <a:ext cx="876122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Sistema determinado com quatro equações e quatro variáveis</a:t>
                </a:r>
                <a14:m>
                  <m:oMath xmlns:m="http://schemas.openxmlformats.org/officeDocument/2006/math">
                    <m: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9787C88-3792-E082-3DC7-732C0AA49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3053419"/>
                <a:ext cx="8761228" cy="391261"/>
              </a:xfrm>
              <a:prstGeom prst="rect">
                <a:avLst/>
              </a:prstGeom>
              <a:blipFill>
                <a:blip r:embed="rId6"/>
                <a:stretch>
                  <a:fillRect l="-556" t="-7813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483ABAD0-9016-D0C2-6822-7469F0512555}"/>
              </a:ext>
            </a:extLst>
          </p:cNvPr>
          <p:cNvSpPr txBox="1"/>
          <p:nvPr/>
        </p:nvSpPr>
        <p:spPr>
          <a:xfrm>
            <a:off x="191386" y="3726642"/>
            <a:ext cx="8761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U</a:t>
            </a:r>
            <a:r>
              <a:rPr lang="pt-BR" sz="1800" dirty="0">
                <a:solidFill>
                  <a:schemeClr val="bg1"/>
                </a:solidFill>
              </a:rPr>
              <a:t>sar o vínculo de movimento entre bloco e plano inclinado para determinar o sistema</a:t>
            </a:r>
          </a:p>
        </p:txBody>
      </p:sp>
    </p:spTree>
    <p:extLst>
      <p:ext uri="{BB962C8B-B14F-4D97-AF65-F5344CB8AC3E}">
        <p14:creationId xmlns:p14="http://schemas.microsoft.com/office/powerpoint/2010/main" val="50728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1040</TotalTime>
  <Words>620</Words>
  <Application>Microsoft Office PowerPoint</Application>
  <PresentationFormat>Apresentação na tela (16:9)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Calibri Light</vt:lpstr>
      <vt:lpstr>Cambria Math</vt:lpstr>
      <vt:lpstr>Calibri</vt:lpstr>
      <vt:lpstr>Arial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2026-04-21T01:09:57Z</dcterms:modified>
</cp:coreProperties>
</file>